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  <p:embeddedFont>
      <p:font typeface="Inter Medium" panose="020B0604020202020204" charset="0"/>
      <p:regular r:id="rId13"/>
    </p:embeddedFont>
    <p:embeddedFont>
      <p:font typeface="Inter Semi-Bold" panose="020B0604020202020204" charset="0"/>
      <p:regular r:id="rId14"/>
    </p:embeddedFont>
    <p:embeddedFont>
      <p:font typeface="TT Commons Pro Bold" panose="020B0604020202020204" charset="0"/>
      <p:regular r:id="rId15"/>
    </p:embeddedFont>
    <p:embeddedFont>
      <p:font typeface="TT Hove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34" Type="http://schemas.openxmlformats.org/officeDocument/2006/relationships/image" Target="../media/image96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29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Relationship Id="rId35" Type="http://schemas.openxmlformats.org/officeDocument/2006/relationships/image" Target="../media/image97.png"/><Relationship Id="rId8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3" Type="http://schemas.openxmlformats.org/officeDocument/2006/relationships/image" Target="../media/image99.png"/><Relationship Id="rId21" Type="http://schemas.openxmlformats.org/officeDocument/2006/relationships/image" Target="../media/image117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../media/image113.png"/><Relationship Id="rId2" Type="http://schemas.openxmlformats.org/officeDocument/2006/relationships/image" Target="../media/image98.png"/><Relationship Id="rId16" Type="http://schemas.openxmlformats.org/officeDocument/2006/relationships/image" Target="../media/image112.png"/><Relationship Id="rId20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23" Type="http://schemas.openxmlformats.org/officeDocument/2006/relationships/image" Target="../media/image119.png"/><Relationship Id="rId10" Type="http://schemas.openxmlformats.org/officeDocument/2006/relationships/image" Target="../media/image106.png"/><Relationship Id="rId19" Type="http://schemas.openxmlformats.org/officeDocument/2006/relationships/image" Target="../media/image115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Relationship Id="rId22" Type="http://schemas.openxmlformats.org/officeDocument/2006/relationships/image" Target="../media/image1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26" Type="http://schemas.openxmlformats.org/officeDocument/2006/relationships/image" Target="../media/image144.png"/><Relationship Id="rId3" Type="http://schemas.openxmlformats.org/officeDocument/2006/relationships/image" Target="../media/image121.png"/><Relationship Id="rId21" Type="http://schemas.openxmlformats.org/officeDocument/2006/relationships/image" Target="../media/image139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5" Type="http://schemas.openxmlformats.org/officeDocument/2006/relationships/image" Target="../media/image143.png"/><Relationship Id="rId2" Type="http://schemas.openxmlformats.org/officeDocument/2006/relationships/image" Target="../media/image120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24" Type="http://schemas.openxmlformats.org/officeDocument/2006/relationships/image" Target="../media/image142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23" Type="http://schemas.openxmlformats.org/officeDocument/2006/relationships/image" Target="../media/image141.png"/><Relationship Id="rId28" Type="http://schemas.openxmlformats.org/officeDocument/2006/relationships/image" Target="../media/image146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Relationship Id="rId27" Type="http://schemas.openxmlformats.org/officeDocument/2006/relationships/image" Target="../media/image145.png"/><Relationship Id="rId30" Type="http://schemas.openxmlformats.org/officeDocument/2006/relationships/image" Target="../media/image1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3" Type="http://schemas.openxmlformats.org/officeDocument/2006/relationships/image" Target="../media/image150.png"/><Relationship Id="rId21" Type="http://schemas.openxmlformats.org/officeDocument/2006/relationships/image" Target="../media/image168.png"/><Relationship Id="rId7" Type="http://schemas.openxmlformats.org/officeDocument/2006/relationships/image" Target="../media/image154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5" Type="http://schemas.openxmlformats.org/officeDocument/2006/relationships/image" Target="../media/image172.png"/><Relationship Id="rId2" Type="http://schemas.openxmlformats.org/officeDocument/2006/relationships/image" Target="../media/image149.png"/><Relationship Id="rId16" Type="http://schemas.openxmlformats.org/officeDocument/2006/relationships/image" Target="../media/image163.png"/><Relationship Id="rId20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24" Type="http://schemas.openxmlformats.org/officeDocument/2006/relationships/image" Target="../media/image171.png"/><Relationship Id="rId5" Type="http://schemas.openxmlformats.org/officeDocument/2006/relationships/image" Target="../media/image152.png"/><Relationship Id="rId15" Type="http://schemas.openxmlformats.org/officeDocument/2006/relationships/image" Target="../media/image162.png"/><Relationship Id="rId23" Type="http://schemas.openxmlformats.org/officeDocument/2006/relationships/image" Target="../media/image170.png"/><Relationship Id="rId10" Type="http://schemas.openxmlformats.org/officeDocument/2006/relationships/image" Target="../media/image157.png"/><Relationship Id="rId19" Type="http://schemas.openxmlformats.org/officeDocument/2006/relationships/image" Target="../media/image166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4" Type="http://schemas.openxmlformats.org/officeDocument/2006/relationships/image" Target="../media/image161.png"/><Relationship Id="rId22" Type="http://schemas.openxmlformats.org/officeDocument/2006/relationships/image" Target="../media/image16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18" Type="http://schemas.openxmlformats.org/officeDocument/2006/relationships/image" Target="../media/image189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17" Type="http://schemas.openxmlformats.org/officeDocument/2006/relationships/image" Target="../media/image188.png"/><Relationship Id="rId2" Type="http://schemas.openxmlformats.org/officeDocument/2006/relationships/image" Target="../media/image173.png"/><Relationship Id="rId16" Type="http://schemas.openxmlformats.org/officeDocument/2006/relationships/image" Target="../media/image1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5" Type="http://schemas.openxmlformats.org/officeDocument/2006/relationships/image" Target="../media/image186.png"/><Relationship Id="rId10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42268" y="7685187"/>
            <a:ext cx="15345732" cy="2601813"/>
          </a:xfrm>
          <a:custGeom>
            <a:avLst/>
            <a:gdLst/>
            <a:ahLst/>
            <a:cxnLst/>
            <a:rect l="l" t="t" r="r" b="b"/>
            <a:pathLst>
              <a:path w="15345732" h="2601813">
                <a:moveTo>
                  <a:pt x="0" y="0"/>
                </a:moveTo>
                <a:lnTo>
                  <a:pt x="15345732" y="0"/>
                </a:lnTo>
                <a:lnTo>
                  <a:pt x="15345732" y="2601813"/>
                </a:lnTo>
                <a:lnTo>
                  <a:pt x="0" y="2601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4" t="-71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844019" y="1628866"/>
            <a:ext cx="7656459" cy="7543071"/>
          </a:xfrm>
          <a:custGeom>
            <a:avLst/>
            <a:gdLst/>
            <a:ahLst/>
            <a:cxnLst/>
            <a:rect l="l" t="t" r="r" b="b"/>
            <a:pathLst>
              <a:path w="7656459" h="7543071">
                <a:moveTo>
                  <a:pt x="0" y="0"/>
                </a:moveTo>
                <a:lnTo>
                  <a:pt x="7656459" y="0"/>
                </a:lnTo>
                <a:lnTo>
                  <a:pt x="7656459" y="7543071"/>
                </a:lnTo>
                <a:lnTo>
                  <a:pt x="0" y="75430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4" t="-1739" r="-1857" b="-57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17445" y="951083"/>
            <a:ext cx="8487732" cy="7881963"/>
          </a:xfrm>
          <a:custGeom>
            <a:avLst/>
            <a:gdLst/>
            <a:ahLst/>
            <a:cxnLst/>
            <a:rect l="l" t="t" r="r" b="b"/>
            <a:pathLst>
              <a:path w="8487732" h="7881963">
                <a:moveTo>
                  <a:pt x="0" y="0"/>
                </a:moveTo>
                <a:lnTo>
                  <a:pt x="8487732" y="0"/>
                </a:lnTo>
                <a:lnTo>
                  <a:pt x="8487732" y="7881963"/>
                </a:lnTo>
                <a:lnTo>
                  <a:pt x="0" y="78819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73" t="-1248" r="-2061" b="-221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576852" y="1016675"/>
            <a:ext cx="1815675" cy="1027607"/>
          </a:xfrm>
          <a:custGeom>
            <a:avLst/>
            <a:gdLst/>
            <a:ahLst/>
            <a:cxnLst/>
            <a:rect l="l" t="t" r="r" b="b"/>
            <a:pathLst>
              <a:path w="1815675" h="1027607">
                <a:moveTo>
                  <a:pt x="0" y="0"/>
                </a:moveTo>
                <a:lnTo>
                  <a:pt x="1815674" y="0"/>
                </a:lnTo>
                <a:lnTo>
                  <a:pt x="1815674" y="1027607"/>
                </a:lnTo>
                <a:lnTo>
                  <a:pt x="0" y="10276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28" t="-15957" r="-1204" b="-1063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44153" y="885491"/>
            <a:ext cx="1585981" cy="863627"/>
          </a:xfrm>
          <a:custGeom>
            <a:avLst/>
            <a:gdLst/>
            <a:ahLst/>
            <a:cxnLst/>
            <a:rect l="l" t="t" r="r" b="b"/>
            <a:pathLst>
              <a:path w="1585981" h="863627">
                <a:moveTo>
                  <a:pt x="0" y="0"/>
                </a:moveTo>
                <a:lnTo>
                  <a:pt x="1585981" y="0"/>
                </a:lnTo>
                <a:lnTo>
                  <a:pt x="1585981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344" t="-3797" b="-2151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94144" y="1945894"/>
            <a:ext cx="1039091" cy="798035"/>
          </a:xfrm>
          <a:custGeom>
            <a:avLst/>
            <a:gdLst/>
            <a:ahLst/>
            <a:cxnLst/>
            <a:rect l="l" t="t" r="r" b="b"/>
            <a:pathLst>
              <a:path w="1039091" h="798035">
                <a:moveTo>
                  <a:pt x="0" y="0"/>
                </a:moveTo>
                <a:lnTo>
                  <a:pt x="1039090" y="0"/>
                </a:lnTo>
                <a:lnTo>
                  <a:pt x="1039090" y="798035"/>
                </a:lnTo>
                <a:lnTo>
                  <a:pt x="0" y="7980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157" t="-2739" r="-3157" b="-547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494201" y="2754861"/>
            <a:ext cx="1400038" cy="754307"/>
          </a:xfrm>
          <a:custGeom>
            <a:avLst/>
            <a:gdLst/>
            <a:ahLst/>
            <a:cxnLst/>
            <a:rect l="l" t="t" r="r" b="b"/>
            <a:pathLst>
              <a:path w="1400038" h="754307">
                <a:moveTo>
                  <a:pt x="0" y="0"/>
                </a:moveTo>
                <a:lnTo>
                  <a:pt x="1400038" y="0"/>
                </a:lnTo>
                <a:lnTo>
                  <a:pt x="1400038" y="754307"/>
                </a:lnTo>
                <a:lnTo>
                  <a:pt x="0" y="7543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500" t="-24637" r="-13281" b="-1884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73885" y="5356674"/>
            <a:ext cx="1706297" cy="874559"/>
          </a:xfrm>
          <a:custGeom>
            <a:avLst/>
            <a:gdLst/>
            <a:ahLst/>
            <a:cxnLst/>
            <a:rect l="l" t="t" r="r" b="b"/>
            <a:pathLst>
              <a:path w="1706297" h="874559">
                <a:moveTo>
                  <a:pt x="0" y="0"/>
                </a:moveTo>
                <a:lnTo>
                  <a:pt x="1706297" y="0"/>
                </a:lnTo>
                <a:lnTo>
                  <a:pt x="1706297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205" t="-25000" b="-23750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870555" y="5859545"/>
            <a:ext cx="1673483" cy="951083"/>
          </a:xfrm>
          <a:custGeom>
            <a:avLst/>
            <a:gdLst/>
            <a:ahLst/>
            <a:cxnLst/>
            <a:rect l="l" t="t" r="r" b="b"/>
            <a:pathLst>
              <a:path w="1673483" h="951083">
                <a:moveTo>
                  <a:pt x="0" y="0"/>
                </a:moveTo>
                <a:lnTo>
                  <a:pt x="1673483" y="0"/>
                </a:lnTo>
                <a:lnTo>
                  <a:pt x="1673483" y="951083"/>
                </a:lnTo>
                <a:lnTo>
                  <a:pt x="0" y="9510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9803" t="-8045" r="-7843" b="-5747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26842" y="7204180"/>
            <a:ext cx="2253187" cy="2284785"/>
          </a:xfrm>
          <a:custGeom>
            <a:avLst/>
            <a:gdLst/>
            <a:ahLst/>
            <a:cxnLst/>
            <a:rect l="l" t="t" r="r" b="b"/>
            <a:pathLst>
              <a:path w="2253187" h="2284785">
                <a:moveTo>
                  <a:pt x="0" y="0"/>
                </a:moveTo>
                <a:lnTo>
                  <a:pt x="2253187" y="0"/>
                </a:lnTo>
                <a:lnTo>
                  <a:pt x="2253187" y="2284785"/>
                </a:lnTo>
                <a:lnTo>
                  <a:pt x="0" y="22847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6220" r="-6796" b="-717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45900" y="1105306"/>
            <a:ext cx="7740424" cy="3349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6"/>
              </a:lnSpc>
            </a:pPr>
            <a:r>
              <a:rPr lang="en-US" sz="7062" b="1" spc="-106">
                <a:solidFill>
                  <a:srgbClr val="071B50"/>
                </a:solidFill>
                <a:latin typeface="Inter Bold"/>
                <a:ea typeface="Inter Bold"/>
                <a:cs typeface="Inter Bold"/>
                <a:sym typeface="Inter Bold"/>
              </a:rPr>
              <a:t>Intelligent Routing for Dynamic Satellite Networks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6101" y="4870121"/>
            <a:ext cx="7720370" cy="143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2784" b="1" spc="-55">
                <a:solidFill>
                  <a:srgbClr val="108EAD"/>
                </a:solidFill>
                <a:latin typeface="Inter Bold"/>
                <a:ea typeface="Inter Bold"/>
                <a:cs typeface="Inter Bold"/>
                <a:sym typeface="Inter Bold"/>
              </a:rPr>
              <a:t>A simulator for routing data between satellites and ground stations under motion, link failures, and changing network conditions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645900" y="7062064"/>
            <a:ext cx="86933" cy="2961195"/>
          </a:xfrm>
          <a:custGeom>
            <a:avLst/>
            <a:gdLst/>
            <a:ahLst/>
            <a:cxnLst/>
            <a:rect l="l" t="t" r="r" b="b"/>
            <a:pathLst>
              <a:path w="54689" h="2197329">
                <a:moveTo>
                  <a:pt x="0" y="0"/>
                </a:moveTo>
                <a:lnTo>
                  <a:pt x="54689" y="0"/>
                </a:lnTo>
                <a:lnTo>
                  <a:pt x="54689" y="2197329"/>
                </a:lnTo>
                <a:lnTo>
                  <a:pt x="0" y="21973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0000" t="-9452" r="-160000" b="-7960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71728" y="6993700"/>
            <a:ext cx="5657672" cy="2961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2784" b="1" spc="-55" dirty="0" err="1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  <a:t>Laphing</a:t>
            </a:r>
            <a:r>
              <a:rPr lang="en-US" sz="2784" b="1" spc="-55" dirty="0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784" b="1" spc="-55" dirty="0" err="1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  <a:t>Budhha</a:t>
            </a:r>
            <a:br>
              <a:rPr lang="en-US" sz="2784" b="1" spc="-55" dirty="0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lang="en-US" sz="2784" b="1" spc="-55" dirty="0">
              <a:solidFill>
                <a:srgbClr val="071B5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l">
              <a:lnSpc>
                <a:spcPts val="3898"/>
              </a:lnSpc>
            </a:pPr>
            <a:r>
              <a:rPr lang="en-US" sz="2784" b="1" spc="-55" dirty="0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  <a:t>-Aayush Kumar Choubey</a:t>
            </a:r>
            <a:br>
              <a:rPr lang="en-US" sz="2784" b="1" spc="-55" dirty="0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US" sz="2784" b="1" spc="-55" dirty="0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  <a:t>-Abhinav Sunam</a:t>
            </a:r>
            <a:br>
              <a:rPr lang="en-US" sz="2784" b="1" spc="-55" dirty="0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US" sz="2784" b="1" spc="-55" dirty="0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  <a:t>-Nikita Singh</a:t>
            </a:r>
          </a:p>
          <a:p>
            <a:pPr algn="l">
              <a:lnSpc>
                <a:spcPts val="3898"/>
              </a:lnSpc>
            </a:pPr>
            <a:r>
              <a:rPr lang="en-US" sz="2784" b="1" spc="-55" dirty="0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  <a:t>-</a:t>
            </a:r>
            <a:r>
              <a:rPr lang="en-US" sz="2784" b="1" spc="-55" dirty="0" err="1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  <a:t>Saorabh</a:t>
            </a:r>
            <a:r>
              <a:rPr lang="en-US" sz="2784" b="1" spc="-55" dirty="0">
                <a:solidFill>
                  <a:srgbClr val="071B50"/>
                </a:solidFill>
                <a:latin typeface="Inter Medium"/>
                <a:ea typeface="Inter Medium"/>
                <a:cs typeface="Inter Medium"/>
                <a:sym typeface="Inter Medium"/>
              </a:rPr>
              <a:t>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1136" y="858131"/>
            <a:ext cx="7501293" cy="1698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5"/>
              </a:lnSpc>
            </a:pPr>
            <a:r>
              <a:rPr lang="en-US" sz="6134" b="1">
                <a:solidFill>
                  <a:srgbClr val="162D51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Statement and Background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5463" y="2938202"/>
            <a:ext cx="6784212" cy="42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3045" b="1">
                <a:solidFill>
                  <a:srgbClr val="0B99AD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Challenges in LEO Satellite Networks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3305" y="3685944"/>
            <a:ext cx="6697266" cy="1119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250" b="1" spc="-45">
                <a:solidFill>
                  <a:srgbClr val="162D51"/>
                </a:solidFill>
                <a:latin typeface="Inter Medium"/>
                <a:ea typeface="Inter Medium"/>
                <a:cs typeface="Inter Medium"/>
                <a:sym typeface="Inter Medium"/>
              </a:rPr>
              <a:t>LEO constellations such as Starlink and OneWeb enable global internet, navigation, IoT, and disaster communication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305" y="5093296"/>
            <a:ext cx="6697266" cy="74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250" b="1" spc="-45">
                <a:solidFill>
                  <a:srgbClr val="162D51"/>
                </a:solidFill>
                <a:latin typeface="Inter Medium"/>
                <a:ea typeface="Inter Medium"/>
                <a:cs typeface="Inter Medium"/>
                <a:sym typeface="Inter Medium"/>
              </a:rPr>
              <a:t>Satellites move at ~7 km/s, creating constantly changing topology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3305" y="6147554"/>
            <a:ext cx="6697266" cy="74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250" b="1" spc="-45">
                <a:solidFill>
                  <a:srgbClr val="162D51"/>
                </a:solidFill>
                <a:latin typeface="Inter Medium"/>
                <a:ea typeface="Inter Medium"/>
                <a:cs typeface="Inter Medium"/>
                <a:sym typeface="Inter Medium"/>
              </a:rPr>
              <a:t>Links fail due to weather, interference, hardware faults, and eclipses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3305" y="7185916"/>
            <a:ext cx="6697266" cy="37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250" b="1" spc="-45">
                <a:solidFill>
                  <a:srgbClr val="162D51"/>
                </a:solidFill>
                <a:latin typeface="Inter Medium"/>
                <a:ea typeface="Inter Medium"/>
                <a:cs typeface="Inter Medium"/>
                <a:sym typeface="Inter Medium"/>
              </a:rPr>
              <a:t>Traffic load and latency vary by region and time</a:t>
            </a:r>
          </a:p>
        </p:txBody>
      </p:sp>
      <p:sp>
        <p:nvSpPr>
          <p:cNvPr id="9" name="Freeform 9"/>
          <p:cNvSpPr/>
          <p:nvPr/>
        </p:nvSpPr>
        <p:spPr>
          <a:xfrm>
            <a:off x="514077" y="7925691"/>
            <a:ext cx="8203349" cy="1836574"/>
          </a:xfrm>
          <a:custGeom>
            <a:avLst/>
            <a:gdLst/>
            <a:ahLst/>
            <a:cxnLst/>
            <a:rect l="l" t="t" r="r" b="b"/>
            <a:pathLst>
              <a:path w="8203349" h="1836574">
                <a:moveTo>
                  <a:pt x="0" y="0"/>
                </a:moveTo>
                <a:lnTo>
                  <a:pt x="8203349" y="0"/>
                </a:lnTo>
                <a:lnTo>
                  <a:pt x="8203349" y="1836574"/>
                </a:lnTo>
                <a:lnTo>
                  <a:pt x="0" y="1836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66" b="-5357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21598" y="8209351"/>
            <a:ext cx="1601884" cy="38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sz="2812" b="1">
                <a:solidFill>
                  <a:srgbClr val="0B99AD"/>
                </a:solidFill>
                <a:latin typeface="Inter Bold"/>
                <a:ea typeface="Inter Bold"/>
                <a:cs typeface="Inter Bold"/>
                <a:sym typeface="Inter Bold"/>
              </a:rPr>
              <a:t>Our goal: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97571" y="8172760"/>
            <a:ext cx="5454589" cy="127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601" b="1" spc="-52">
                <a:solidFill>
                  <a:srgbClr val="162D51"/>
                </a:solidFill>
                <a:latin typeface="Inter Medium"/>
                <a:ea typeface="Inter Medium"/>
                <a:cs typeface="Inter Medium"/>
                <a:sym typeface="Inter Medium"/>
              </a:rPr>
              <a:t>Build a simulator that intelligently routes data despite motion, failures, and congestion.</a:t>
            </a:r>
          </a:p>
        </p:txBody>
      </p:sp>
      <p:sp>
        <p:nvSpPr>
          <p:cNvPr id="12" name="Freeform 12"/>
          <p:cNvSpPr/>
          <p:nvPr/>
        </p:nvSpPr>
        <p:spPr>
          <a:xfrm>
            <a:off x="8804928" y="1005743"/>
            <a:ext cx="9001809" cy="7903827"/>
          </a:xfrm>
          <a:custGeom>
            <a:avLst/>
            <a:gdLst/>
            <a:ahLst/>
            <a:cxnLst/>
            <a:rect l="l" t="t" r="r" b="b"/>
            <a:pathLst>
              <a:path w="9001809" h="7903827">
                <a:moveTo>
                  <a:pt x="0" y="0"/>
                </a:moveTo>
                <a:lnTo>
                  <a:pt x="9001809" y="0"/>
                </a:lnTo>
                <a:lnTo>
                  <a:pt x="9001809" y="7903827"/>
                </a:lnTo>
                <a:lnTo>
                  <a:pt x="0" y="7903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53" t="-4702" r="-607" b="-124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422105" y="2951637"/>
            <a:ext cx="1246909" cy="907355"/>
          </a:xfrm>
          <a:custGeom>
            <a:avLst/>
            <a:gdLst/>
            <a:ahLst/>
            <a:cxnLst/>
            <a:rect l="l" t="t" r="r" b="b"/>
            <a:pathLst>
              <a:path w="1246909" h="907355">
                <a:moveTo>
                  <a:pt x="0" y="0"/>
                </a:moveTo>
                <a:lnTo>
                  <a:pt x="1246909" y="0"/>
                </a:lnTo>
                <a:lnTo>
                  <a:pt x="1246909" y="907354"/>
                </a:lnTo>
                <a:lnTo>
                  <a:pt x="0" y="9073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280" t="-19277" r="-1052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839359" y="863627"/>
            <a:ext cx="1257847" cy="929219"/>
          </a:xfrm>
          <a:custGeom>
            <a:avLst/>
            <a:gdLst/>
            <a:ahLst/>
            <a:cxnLst/>
            <a:rect l="l" t="t" r="r" b="b"/>
            <a:pathLst>
              <a:path w="1257847" h="929219">
                <a:moveTo>
                  <a:pt x="0" y="0"/>
                </a:moveTo>
                <a:lnTo>
                  <a:pt x="1257847" y="0"/>
                </a:lnTo>
                <a:lnTo>
                  <a:pt x="1257847" y="929219"/>
                </a:lnTo>
                <a:lnTo>
                  <a:pt x="0" y="929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913" t="-1176" r="-7826" b="-15294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689464" y="819899"/>
            <a:ext cx="1246909" cy="896423"/>
          </a:xfrm>
          <a:custGeom>
            <a:avLst/>
            <a:gdLst/>
            <a:ahLst/>
            <a:cxnLst/>
            <a:rect l="l" t="t" r="r" b="b"/>
            <a:pathLst>
              <a:path w="1246909" h="896423">
                <a:moveTo>
                  <a:pt x="0" y="0"/>
                </a:moveTo>
                <a:lnTo>
                  <a:pt x="1246909" y="0"/>
                </a:lnTo>
                <a:lnTo>
                  <a:pt x="1246909" y="896423"/>
                </a:lnTo>
                <a:lnTo>
                  <a:pt x="0" y="8964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771" t="-20731" r="-14035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114421" y="1924030"/>
            <a:ext cx="1203158" cy="896423"/>
          </a:xfrm>
          <a:custGeom>
            <a:avLst/>
            <a:gdLst/>
            <a:ahLst/>
            <a:cxnLst/>
            <a:rect l="l" t="t" r="r" b="b"/>
            <a:pathLst>
              <a:path w="1203158" h="896423">
                <a:moveTo>
                  <a:pt x="0" y="0"/>
                </a:moveTo>
                <a:lnTo>
                  <a:pt x="1203158" y="0"/>
                </a:lnTo>
                <a:lnTo>
                  <a:pt x="1203158" y="896423"/>
                </a:lnTo>
                <a:lnTo>
                  <a:pt x="0" y="8964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545" t="-24390" r="-4545" b="-20731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417636" y="2350377"/>
            <a:ext cx="1301598" cy="907355"/>
          </a:xfrm>
          <a:custGeom>
            <a:avLst/>
            <a:gdLst/>
            <a:ahLst/>
            <a:cxnLst/>
            <a:rect l="l" t="t" r="r" b="b"/>
            <a:pathLst>
              <a:path w="1301598" h="907355">
                <a:moveTo>
                  <a:pt x="0" y="0"/>
                </a:moveTo>
                <a:lnTo>
                  <a:pt x="1301598" y="0"/>
                </a:lnTo>
                <a:lnTo>
                  <a:pt x="1301598" y="907355"/>
                </a:lnTo>
                <a:lnTo>
                  <a:pt x="0" y="9073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563" t="-22891" r="-10924" b="-19277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305024" y="4033903"/>
            <a:ext cx="1181282" cy="874559"/>
          </a:xfrm>
          <a:custGeom>
            <a:avLst/>
            <a:gdLst/>
            <a:ahLst/>
            <a:cxnLst/>
            <a:rect l="l" t="t" r="r" b="b"/>
            <a:pathLst>
              <a:path w="1181282" h="874559">
                <a:moveTo>
                  <a:pt x="0" y="0"/>
                </a:moveTo>
                <a:lnTo>
                  <a:pt x="1181282" y="0"/>
                </a:lnTo>
                <a:lnTo>
                  <a:pt x="118128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185" t="-21250" r="-1851" b="-2500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559828" y="6285893"/>
            <a:ext cx="1214096" cy="907355"/>
          </a:xfrm>
          <a:custGeom>
            <a:avLst/>
            <a:gdLst/>
            <a:ahLst/>
            <a:cxnLst/>
            <a:rect l="l" t="t" r="r" b="b"/>
            <a:pathLst>
              <a:path w="1214096" h="907355">
                <a:moveTo>
                  <a:pt x="0" y="0"/>
                </a:moveTo>
                <a:lnTo>
                  <a:pt x="1214095" y="0"/>
                </a:lnTo>
                <a:lnTo>
                  <a:pt x="1214095" y="907355"/>
                </a:lnTo>
                <a:lnTo>
                  <a:pt x="0" y="9073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801" t="-8433" r="-7207" b="-10843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795608" y="8056875"/>
            <a:ext cx="1323474" cy="940151"/>
          </a:xfrm>
          <a:custGeom>
            <a:avLst/>
            <a:gdLst/>
            <a:ahLst/>
            <a:cxnLst/>
            <a:rect l="l" t="t" r="r" b="b"/>
            <a:pathLst>
              <a:path w="1323474" h="940151">
                <a:moveTo>
                  <a:pt x="0" y="0"/>
                </a:moveTo>
                <a:lnTo>
                  <a:pt x="1323473" y="0"/>
                </a:lnTo>
                <a:lnTo>
                  <a:pt x="1323473" y="940151"/>
                </a:lnTo>
                <a:lnTo>
                  <a:pt x="0" y="9401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9917" t="-13953" r="-5785" b="-1162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350392" y="8056875"/>
            <a:ext cx="1246909" cy="929219"/>
          </a:xfrm>
          <a:custGeom>
            <a:avLst/>
            <a:gdLst/>
            <a:ahLst/>
            <a:cxnLst/>
            <a:rect l="l" t="t" r="r" b="b"/>
            <a:pathLst>
              <a:path w="1246909" h="929219">
                <a:moveTo>
                  <a:pt x="0" y="0"/>
                </a:moveTo>
                <a:lnTo>
                  <a:pt x="1246909" y="0"/>
                </a:lnTo>
                <a:lnTo>
                  <a:pt x="1246909" y="929219"/>
                </a:lnTo>
                <a:lnTo>
                  <a:pt x="0" y="9292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666" t="-14117" r="-7017" b="-2352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717426" y="6242165"/>
            <a:ext cx="1225033" cy="929219"/>
          </a:xfrm>
          <a:custGeom>
            <a:avLst/>
            <a:gdLst/>
            <a:ahLst/>
            <a:cxnLst/>
            <a:rect l="l" t="t" r="r" b="b"/>
            <a:pathLst>
              <a:path w="1225033" h="929219">
                <a:moveTo>
                  <a:pt x="0" y="0"/>
                </a:moveTo>
                <a:lnTo>
                  <a:pt x="1225033" y="0"/>
                </a:lnTo>
                <a:lnTo>
                  <a:pt x="1225033" y="929219"/>
                </a:lnTo>
                <a:lnTo>
                  <a:pt x="0" y="9292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892" t="-3529" r="-6250" b="-12941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849167"/>
            <a:ext cx="18288000" cy="2437833"/>
          </a:xfrm>
          <a:custGeom>
            <a:avLst/>
            <a:gdLst/>
            <a:ahLst/>
            <a:cxnLst/>
            <a:rect l="l" t="t" r="r" b="b"/>
            <a:pathLst>
              <a:path w="18288000" h="2437833">
                <a:moveTo>
                  <a:pt x="0" y="0"/>
                </a:moveTo>
                <a:lnTo>
                  <a:pt x="18288000" y="0"/>
                </a:lnTo>
                <a:lnTo>
                  <a:pt x="18288000" y="2437833"/>
                </a:lnTo>
                <a:lnTo>
                  <a:pt x="0" y="2437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34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2604" y="800958"/>
            <a:ext cx="13354432" cy="87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5"/>
              </a:lnSpc>
            </a:pPr>
            <a:r>
              <a:rPr lang="en-US" sz="5853" b="1" spc="-117">
                <a:solidFill>
                  <a:srgbClr val="133054"/>
                </a:solidFill>
                <a:latin typeface="Inter Bold"/>
                <a:ea typeface="Inter Bold"/>
                <a:cs typeface="Inter Bold"/>
                <a:sym typeface="Inter Bold"/>
              </a:rPr>
              <a:t>Proposed Dynamic-Graph Simulator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2938" y="2598246"/>
            <a:ext cx="9376172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205" b="1" spc="-44">
                <a:solidFill>
                  <a:srgbClr val="0EACBD"/>
                </a:solidFill>
                <a:latin typeface="Inter Bold"/>
                <a:ea typeface="Inter Bold"/>
                <a:cs typeface="Inter Bold"/>
                <a:sym typeface="Inter Bold"/>
              </a:rPr>
              <a:t>Adapts routes</a:t>
            </a:r>
            <a:r>
              <a:rPr lang="en-US" sz="2205" spc="-44">
                <a:solidFill>
                  <a:srgbClr val="133054"/>
                </a:solidFill>
                <a:latin typeface="Inter"/>
                <a:ea typeface="Inter"/>
                <a:cs typeface="Inter"/>
                <a:sym typeface="Inter"/>
              </a:rPr>
              <a:t> in real time and benchmarks against a static baseline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2938" y="3637444"/>
            <a:ext cx="9376172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205" spc="-44">
                <a:solidFill>
                  <a:srgbClr val="133054"/>
                </a:solidFill>
                <a:latin typeface="Inter"/>
                <a:ea typeface="Inter"/>
                <a:cs typeface="Inter"/>
                <a:sym typeface="Inter"/>
              </a:rPr>
              <a:t>Delivers live network insights through an </a:t>
            </a:r>
            <a:r>
              <a:rPr lang="en-US" sz="2205" b="1" spc="-44">
                <a:solidFill>
                  <a:srgbClr val="0EACBD"/>
                </a:solidFill>
                <a:latin typeface="Inter Bold"/>
                <a:ea typeface="Inter Bold"/>
                <a:cs typeface="Inter Bold"/>
                <a:sym typeface="Inter Bold"/>
              </a:rPr>
              <a:t>interactive dashboard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4394659"/>
            <a:ext cx="2898517" cy="4012039"/>
          </a:xfrm>
          <a:custGeom>
            <a:avLst/>
            <a:gdLst/>
            <a:ahLst/>
            <a:cxnLst/>
            <a:rect l="l" t="t" r="r" b="b"/>
            <a:pathLst>
              <a:path w="2898517" h="4012039">
                <a:moveTo>
                  <a:pt x="0" y="0"/>
                </a:moveTo>
                <a:lnTo>
                  <a:pt x="2898517" y="0"/>
                </a:lnTo>
                <a:lnTo>
                  <a:pt x="2898517" y="4012039"/>
                </a:lnTo>
                <a:lnTo>
                  <a:pt x="0" y="401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24" r="-5660" b="-435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23474" y="4700755"/>
            <a:ext cx="1509416" cy="1508614"/>
          </a:xfrm>
          <a:custGeom>
            <a:avLst/>
            <a:gdLst/>
            <a:ahLst/>
            <a:cxnLst/>
            <a:rect l="l" t="t" r="r" b="b"/>
            <a:pathLst>
              <a:path w="1509416" h="1508614">
                <a:moveTo>
                  <a:pt x="0" y="0"/>
                </a:moveTo>
                <a:lnTo>
                  <a:pt x="1509416" y="0"/>
                </a:lnTo>
                <a:lnTo>
                  <a:pt x="15094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49" t="-13768" b="-72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86340" y="6544674"/>
            <a:ext cx="1559264" cy="34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37" b="1" spc="-46">
                <a:solidFill>
                  <a:srgbClr val="133054"/>
                </a:solidFill>
                <a:latin typeface="Inter Bold"/>
                <a:ea typeface="Inter Bold"/>
                <a:cs typeface="Inter Bold"/>
                <a:sym typeface="Inter Bold"/>
              </a:rPr>
              <a:t>Orbit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4825" y="7122446"/>
            <a:ext cx="2042294" cy="85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27" spc="-36">
                <a:solidFill>
                  <a:srgbClr val="133054"/>
                </a:solidFill>
                <a:latin typeface="Inter"/>
                <a:ea typeface="Inter"/>
                <a:cs typeface="Inter"/>
                <a:sym typeface="Inter"/>
              </a:rPr>
              <a:t>Simulate orbits and compute real-time satellite positions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11033" y="5389470"/>
            <a:ext cx="546890" cy="404484"/>
          </a:xfrm>
          <a:custGeom>
            <a:avLst/>
            <a:gdLst/>
            <a:ahLst/>
            <a:cxnLst/>
            <a:rect l="l" t="t" r="r" b="b"/>
            <a:pathLst>
              <a:path w="546890" h="404484">
                <a:moveTo>
                  <a:pt x="0" y="0"/>
                </a:moveTo>
                <a:lnTo>
                  <a:pt x="546890" y="0"/>
                </a:lnTo>
                <a:lnTo>
                  <a:pt x="546890" y="404483"/>
                </a:lnTo>
                <a:lnTo>
                  <a:pt x="0" y="4044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000" t="-8108" r="-1600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079799" y="4394659"/>
            <a:ext cx="2876641" cy="4012039"/>
          </a:xfrm>
          <a:custGeom>
            <a:avLst/>
            <a:gdLst/>
            <a:ahLst/>
            <a:cxnLst/>
            <a:rect l="l" t="t" r="r" b="b"/>
            <a:pathLst>
              <a:path w="2876641" h="4012039">
                <a:moveTo>
                  <a:pt x="0" y="0"/>
                </a:moveTo>
                <a:lnTo>
                  <a:pt x="2876641" y="0"/>
                </a:lnTo>
                <a:lnTo>
                  <a:pt x="2876641" y="4012039"/>
                </a:lnTo>
                <a:lnTo>
                  <a:pt x="0" y="40120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03" t="-2724" r="-380" b="-4359"/>
            </a:stretch>
          </a:blipFill>
        </p:spPr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756453" y="4707146"/>
            <a:ext cx="1522066" cy="1505806"/>
            <a:chOff x="0" y="0"/>
            <a:chExt cx="1767288" cy="1749337"/>
          </a:xfrm>
        </p:grpSpPr>
        <p:sp>
          <p:nvSpPr>
            <p:cNvPr id="14" name="Freeform 14"/>
            <p:cNvSpPr/>
            <p:nvPr/>
          </p:nvSpPr>
          <p:spPr>
            <a:xfrm>
              <a:off x="-9" y="-3793"/>
              <a:ext cx="1767350" cy="1757139"/>
            </a:xfrm>
            <a:custGeom>
              <a:avLst/>
              <a:gdLst/>
              <a:ahLst/>
              <a:cxnLst/>
              <a:rect l="l" t="t" r="r" b="b"/>
              <a:pathLst>
                <a:path w="1767350" h="1757139">
                  <a:moveTo>
                    <a:pt x="9" y="878569"/>
                  </a:moveTo>
                  <a:cubicBezTo>
                    <a:pt x="-1407" y="565155"/>
                    <a:pt x="166708" y="274947"/>
                    <a:pt x="440697" y="117834"/>
                  </a:cubicBezTo>
                  <a:cubicBezTo>
                    <a:pt x="714686" y="-39279"/>
                    <a:pt x="1052664" y="-39279"/>
                    <a:pt x="1326653" y="117834"/>
                  </a:cubicBezTo>
                  <a:cubicBezTo>
                    <a:pt x="1600642" y="274947"/>
                    <a:pt x="1768757" y="565155"/>
                    <a:pt x="1767341" y="878569"/>
                  </a:cubicBezTo>
                  <a:cubicBezTo>
                    <a:pt x="1768757" y="1191983"/>
                    <a:pt x="1600642" y="1482191"/>
                    <a:pt x="1326653" y="1639304"/>
                  </a:cubicBezTo>
                  <a:cubicBezTo>
                    <a:pt x="1052664" y="1796417"/>
                    <a:pt x="714686" y="1796417"/>
                    <a:pt x="440697" y="1639304"/>
                  </a:cubicBezTo>
                  <a:cubicBezTo>
                    <a:pt x="166708" y="1482191"/>
                    <a:pt x="-1407" y="1191983"/>
                    <a:pt x="9" y="878569"/>
                  </a:cubicBezTo>
                  <a:close/>
                </a:path>
              </a:pathLst>
            </a:custGeom>
            <a:blipFill>
              <a:blip r:embed="rId8"/>
              <a:stretch>
                <a:fillRect l="-12117" t="-13939" r="-2856" b="-25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4339947" y="7122446"/>
            <a:ext cx="2281654" cy="85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27" spc="-36">
                <a:solidFill>
                  <a:srgbClr val="133054"/>
                </a:solidFill>
                <a:latin typeface="Inter"/>
                <a:ea typeface="Inter"/>
                <a:cs typeface="Inter"/>
                <a:sym typeface="Inter"/>
              </a:rPr>
              <a:t>Model inter-satellite links and connections to ground stations</a:t>
            </a:r>
          </a:p>
        </p:txBody>
      </p:sp>
      <p:sp>
        <p:nvSpPr>
          <p:cNvPr id="16" name="Freeform 16"/>
          <p:cNvSpPr/>
          <p:nvPr/>
        </p:nvSpPr>
        <p:spPr>
          <a:xfrm>
            <a:off x="6934565" y="5389470"/>
            <a:ext cx="535952" cy="404484"/>
          </a:xfrm>
          <a:custGeom>
            <a:avLst/>
            <a:gdLst/>
            <a:ahLst/>
            <a:cxnLst/>
            <a:rect l="l" t="t" r="r" b="b"/>
            <a:pathLst>
              <a:path w="535952" h="404484">
                <a:moveTo>
                  <a:pt x="0" y="0"/>
                </a:moveTo>
                <a:lnTo>
                  <a:pt x="535952" y="0"/>
                </a:lnTo>
                <a:lnTo>
                  <a:pt x="535952" y="404483"/>
                </a:lnTo>
                <a:lnTo>
                  <a:pt x="0" y="4044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4693" t="-8108" r="-28571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503330" y="4394659"/>
            <a:ext cx="2876641" cy="4012039"/>
          </a:xfrm>
          <a:custGeom>
            <a:avLst/>
            <a:gdLst/>
            <a:ahLst/>
            <a:cxnLst/>
            <a:rect l="l" t="t" r="r" b="b"/>
            <a:pathLst>
              <a:path w="2876641" h="4012039">
                <a:moveTo>
                  <a:pt x="0" y="0"/>
                </a:moveTo>
                <a:lnTo>
                  <a:pt x="2876641" y="0"/>
                </a:lnTo>
                <a:lnTo>
                  <a:pt x="2876641" y="4012039"/>
                </a:lnTo>
                <a:lnTo>
                  <a:pt x="0" y="40120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02" t="-2724" r="-2661" b="-4359"/>
            </a:stretch>
          </a:blipFill>
        </p:spPr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8180452" y="4707511"/>
            <a:ext cx="1527336" cy="1505245"/>
            <a:chOff x="0" y="0"/>
            <a:chExt cx="1773407" cy="1748685"/>
          </a:xfrm>
        </p:grpSpPr>
        <p:sp>
          <p:nvSpPr>
            <p:cNvPr id="19" name="Freeform 19"/>
            <p:cNvSpPr/>
            <p:nvPr/>
          </p:nvSpPr>
          <p:spPr>
            <a:xfrm>
              <a:off x="-64" y="-10588"/>
              <a:ext cx="1773429" cy="1769713"/>
            </a:xfrm>
            <a:custGeom>
              <a:avLst/>
              <a:gdLst/>
              <a:ahLst/>
              <a:cxnLst/>
              <a:rect l="l" t="t" r="r" b="b"/>
              <a:pathLst>
                <a:path w="1773429" h="1769713">
                  <a:moveTo>
                    <a:pt x="64" y="884856"/>
                  </a:moveTo>
                  <a:cubicBezTo>
                    <a:pt x="-3756" y="569994"/>
                    <a:pt x="164398" y="277424"/>
                    <a:pt x="440299" y="118896"/>
                  </a:cubicBezTo>
                  <a:cubicBezTo>
                    <a:pt x="716199" y="-39633"/>
                    <a:pt x="1057230" y="-39633"/>
                    <a:pt x="1333131" y="118896"/>
                  </a:cubicBezTo>
                  <a:cubicBezTo>
                    <a:pt x="1609031" y="277424"/>
                    <a:pt x="1777186" y="569994"/>
                    <a:pt x="1773365" y="884856"/>
                  </a:cubicBezTo>
                  <a:cubicBezTo>
                    <a:pt x="1777186" y="1199718"/>
                    <a:pt x="1609031" y="1492288"/>
                    <a:pt x="1333131" y="1650816"/>
                  </a:cubicBezTo>
                  <a:cubicBezTo>
                    <a:pt x="1057230" y="1809344"/>
                    <a:pt x="716199" y="1809344"/>
                    <a:pt x="440299" y="1650816"/>
                  </a:cubicBezTo>
                  <a:cubicBezTo>
                    <a:pt x="164398" y="1492288"/>
                    <a:pt x="-3756" y="1199718"/>
                    <a:pt x="64" y="884856"/>
                  </a:cubicBezTo>
                  <a:close/>
                </a:path>
              </a:pathLst>
            </a:custGeom>
            <a:blipFill>
              <a:blip r:embed="rId11"/>
              <a:stretch>
                <a:fillRect l="-8523" t="-13480" r="-6057" b="94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7776089" y="7122446"/>
            <a:ext cx="2265228" cy="85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27" spc="-36">
                <a:solidFill>
                  <a:srgbClr val="133054"/>
                </a:solidFill>
                <a:latin typeface="Inter"/>
                <a:ea typeface="Inter"/>
                <a:cs typeface="Inter"/>
                <a:sym typeface="Inter"/>
              </a:rPr>
              <a:t>Run adaptive routing algorithm and update paths continuously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358096" y="5389470"/>
            <a:ext cx="535952" cy="404484"/>
          </a:xfrm>
          <a:custGeom>
            <a:avLst/>
            <a:gdLst/>
            <a:ahLst/>
            <a:cxnLst/>
            <a:rect l="l" t="t" r="r" b="b"/>
            <a:pathLst>
              <a:path w="535952" h="404484">
                <a:moveTo>
                  <a:pt x="0" y="0"/>
                </a:moveTo>
                <a:lnTo>
                  <a:pt x="535952" y="0"/>
                </a:lnTo>
                <a:lnTo>
                  <a:pt x="535952" y="404483"/>
                </a:lnTo>
                <a:lnTo>
                  <a:pt x="0" y="4044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4489" t="-8108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926861" y="4394659"/>
            <a:ext cx="2865703" cy="4012039"/>
          </a:xfrm>
          <a:custGeom>
            <a:avLst/>
            <a:gdLst/>
            <a:ahLst/>
            <a:cxnLst/>
            <a:rect l="l" t="t" r="r" b="b"/>
            <a:pathLst>
              <a:path w="2865703" h="4012039">
                <a:moveTo>
                  <a:pt x="0" y="0"/>
                </a:moveTo>
                <a:lnTo>
                  <a:pt x="2865704" y="0"/>
                </a:lnTo>
                <a:lnTo>
                  <a:pt x="2865704" y="4012039"/>
                </a:lnTo>
                <a:lnTo>
                  <a:pt x="0" y="40120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526" t="-2724" r="-4961" b="-4359"/>
            </a:stretch>
          </a:blipFill>
        </p:spPr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1601828" y="4707606"/>
            <a:ext cx="1517284" cy="1505683"/>
            <a:chOff x="0" y="0"/>
            <a:chExt cx="1761736" cy="1749195"/>
          </a:xfrm>
        </p:grpSpPr>
        <p:sp>
          <p:nvSpPr>
            <p:cNvPr id="24" name="Freeform 24"/>
            <p:cNvSpPr/>
            <p:nvPr/>
          </p:nvSpPr>
          <p:spPr>
            <a:xfrm>
              <a:off x="-9" y="-4047"/>
              <a:ext cx="1761762" cy="1757139"/>
            </a:xfrm>
            <a:custGeom>
              <a:avLst/>
              <a:gdLst/>
              <a:ahLst/>
              <a:cxnLst/>
              <a:rect l="l" t="t" r="r" b="b"/>
              <a:pathLst>
                <a:path w="1761762" h="1757139">
                  <a:moveTo>
                    <a:pt x="9" y="878569"/>
                  </a:moveTo>
                  <a:cubicBezTo>
                    <a:pt x="-1403" y="565155"/>
                    <a:pt x="166181" y="274947"/>
                    <a:pt x="439304" y="117834"/>
                  </a:cubicBezTo>
                  <a:cubicBezTo>
                    <a:pt x="712427" y="-39279"/>
                    <a:pt x="1049335" y="-39279"/>
                    <a:pt x="1322458" y="117834"/>
                  </a:cubicBezTo>
                  <a:cubicBezTo>
                    <a:pt x="1595581" y="274947"/>
                    <a:pt x="1763165" y="565155"/>
                    <a:pt x="1761753" y="878569"/>
                  </a:cubicBezTo>
                  <a:cubicBezTo>
                    <a:pt x="1763165" y="1191983"/>
                    <a:pt x="1595581" y="1482191"/>
                    <a:pt x="1322458" y="1639304"/>
                  </a:cubicBezTo>
                  <a:cubicBezTo>
                    <a:pt x="1049335" y="1796417"/>
                    <a:pt x="712427" y="1796417"/>
                    <a:pt x="439304" y="1639304"/>
                  </a:cubicBezTo>
                  <a:cubicBezTo>
                    <a:pt x="166181" y="1482191"/>
                    <a:pt x="-1403" y="1191983"/>
                    <a:pt x="9" y="878569"/>
                  </a:cubicBezTo>
                  <a:close/>
                </a:path>
              </a:pathLst>
            </a:custGeom>
            <a:blipFill>
              <a:blip r:embed="rId14"/>
              <a:stretch>
                <a:fillRect l="-4836" t="-13955" r="-11223" b="-241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1279130" y="7122446"/>
            <a:ext cx="2095178" cy="85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27" spc="-36">
                <a:solidFill>
                  <a:srgbClr val="133054"/>
                </a:solidFill>
                <a:latin typeface="Inter"/>
                <a:ea typeface="Inter"/>
                <a:cs typeface="Inter"/>
                <a:sym typeface="Inter"/>
              </a:rPr>
              <a:t>Route data across the network under dynamic conditions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770689" y="5389470"/>
            <a:ext cx="535952" cy="404484"/>
          </a:xfrm>
          <a:custGeom>
            <a:avLst/>
            <a:gdLst/>
            <a:ahLst/>
            <a:cxnLst/>
            <a:rect l="l" t="t" r="r" b="b"/>
            <a:pathLst>
              <a:path w="535952" h="404484">
                <a:moveTo>
                  <a:pt x="0" y="0"/>
                </a:moveTo>
                <a:lnTo>
                  <a:pt x="535952" y="0"/>
                </a:lnTo>
                <a:lnTo>
                  <a:pt x="535952" y="404483"/>
                </a:lnTo>
                <a:lnTo>
                  <a:pt x="0" y="40448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0204" t="-8108" r="-12244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4328517" y="4394659"/>
            <a:ext cx="2876641" cy="4012039"/>
          </a:xfrm>
          <a:custGeom>
            <a:avLst/>
            <a:gdLst/>
            <a:ahLst/>
            <a:cxnLst/>
            <a:rect l="l" t="t" r="r" b="b"/>
            <a:pathLst>
              <a:path w="2876641" h="4012039">
                <a:moveTo>
                  <a:pt x="0" y="0"/>
                </a:moveTo>
                <a:lnTo>
                  <a:pt x="2876641" y="0"/>
                </a:lnTo>
                <a:lnTo>
                  <a:pt x="2876641" y="4012039"/>
                </a:lnTo>
                <a:lnTo>
                  <a:pt x="0" y="40120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6463" t="-2724" b="-4359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5006660" y="4700755"/>
            <a:ext cx="1531292" cy="1519546"/>
          </a:xfrm>
          <a:custGeom>
            <a:avLst/>
            <a:gdLst/>
            <a:ahLst/>
            <a:cxnLst/>
            <a:rect l="l" t="t" r="r" b="b"/>
            <a:pathLst>
              <a:path w="1531292" h="1519546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3571" t="-13669" r="-714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5202792" y="6544674"/>
            <a:ext cx="1077458" cy="34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37" b="1" spc="-46">
                <a:solidFill>
                  <a:srgbClr val="133054"/>
                </a:solidFill>
                <a:latin typeface="Inter Bold"/>
                <a:ea typeface="Inter Bold"/>
                <a:cs typeface="Inter Bold"/>
                <a:sym typeface="Inter Bold"/>
              </a:rPr>
              <a:t>Metrics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550237" y="7122468"/>
            <a:ext cx="2382568" cy="852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28" spc="-36">
                <a:solidFill>
                  <a:srgbClr val="133054"/>
                </a:solidFill>
                <a:latin typeface="Inter"/>
                <a:ea typeface="Inter"/>
                <a:cs typeface="Inter"/>
                <a:sym typeface="Inter"/>
              </a:rPr>
              <a:t>Track performance and compare adaptive vs. static routing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2938" y="3110314"/>
            <a:ext cx="9376172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205" spc="-44">
                <a:solidFill>
                  <a:srgbClr val="133054"/>
                </a:solidFill>
                <a:latin typeface="Inter"/>
                <a:ea typeface="Inter"/>
                <a:cs typeface="Inter"/>
                <a:sym typeface="Inter"/>
              </a:rPr>
              <a:t>Handles </a:t>
            </a:r>
            <a:r>
              <a:rPr lang="en-US" sz="2205" b="1" spc="-44">
                <a:solidFill>
                  <a:srgbClr val="0EACBD"/>
                </a:solidFill>
                <a:latin typeface="Inter Bold"/>
                <a:ea typeface="Inter Bold"/>
                <a:cs typeface="Inter Bold"/>
                <a:sym typeface="Inter Bold"/>
              </a:rPr>
              <a:t>failures and congestion</a:t>
            </a:r>
            <a:r>
              <a:rPr lang="en-US" sz="2205" spc="-44">
                <a:solidFill>
                  <a:srgbClr val="133054"/>
                </a:solidFill>
                <a:latin typeface="Inter"/>
                <a:ea typeface="Inter"/>
                <a:cs typeface="Inter"/>
                <a:sym typeface="Inter"/>
              </a:rPr>
              <a:t> to reflect real-world dynamics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2938" y="2056056"/>
            <a:ext cx="9376172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205" spc="-44">
                <a:solidFill>
                  <a:srgbClr val="133054"/>
                </a:solidFill>
                <a:latin typeface="Inter"/>
                <a:ea typeface="Inter"/>
                <a:cs typeface="Inter"/>
                <a:sym typeface="Inter"/>
              </a:rPr>
              <a:t>Continuously simulates </a:t>
            </a:r>
            <a:r>
              <a:rPr lang="en-US" sz="2205" b="1" spc="-44">
                <a:solidFill>
                  <a:srgbClr val="0EACBD"/>
                </a:solidFill>
                <a:latin typeface="Inter Bold"/>
                <a:ea typeface="Inter Bold"/>
                <a:cs typeface="Inter Bold"/>
                <a:sym typeface="Inter Bold"/>
              </a:rPr>
              <a:t>satellite motion and link conditions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52154" y="6544674"/>
            <a:ext cx="2257240" cy="34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37" b="1" spc="-46">
                <a:solidFill>
                  <a:srgbClr val="133054"/>
                </a:solidFill>
                <a:latin typeface="Inter Bold"/>
                <a:ea typeface="Inter Bold"/>
                <a:cs typeface="Inter Bold"/>
                <a:sym typeface="Inter Bold"/>
              </a:rPr>
              <a:t>Network Graph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63995" y="6544674"/>
            <a:ext cx="2289415" cy="34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37" b="1" spc="-46">
                <a:solidFill>
                  <a:srgbClr val="133054"/>
                </a:solidFill>
                <a:latin typeface="Inter Bold"/>
                <a:ea typeface="Inter Bold"/>
                <a:cs typeface="Inter Bold"/>
                <a:sym typeface="Inter Bold"/>
              </a:rPr>
              <a:t>Routing Engine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2427" y="6544674"/>
            <a:ext cx="2008584" cy="34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37" b="1" spc="-46">
                <a:solidFill>
                  <a:srgbClr val="133054"/>
                </a:solidFill>
                <a:latin typeface="Inter Bold"/>
                <a:ea typeface="Inter Bold"/>
                <a:cs typeface="Inter Bold"/>
                <a:sym typeface="Inter Bold"/>
              </a:rPr>
              <a:t>Data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821006"/>
            <a:ext cx="4145426" cy="5455062"/>
          </a:xfrm>
          <a:custGeom>
            <a:avLst/>
            <a:gdLst/>
            <a:ahLst/>
            <a:cxnLst/>
            <a:rect l="l" t="t" r="r" b="b"/>
            <a:pathLst>
              <a:path w="4145426" h="5455062">
                <a:moveTo>
                  <a:pt x="0" y="0"/>
                </a:moveTo>
                <a:lnTo>
                  <a:pt x="4145426" y="0"/>
                </a:lnTo>
                <a:lnTo>
                  <a:pt x="4145426" y="5455062"/>
                </a:lnTo>
                <a:lnTo>
                  <a:pt x="0" y="545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04" b="-20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537328"/>
            <a:ext cx="4856383" cy="3749672"/>
          </a:xfrm>
          <a:custGeom>
            <a:avLst/>
            <a:gdLst/>
            <a:ahLst/>
            <a:cxnLst/>
            <a:rect l="l" t="t" r="r" b="b"/>
            <a:pathLst>
              <a:path w="4856383" h="3749672">
                <a:moveTo>
                  <a:pt x="0" y="0"/>
                </a:moveTo>
                <a:lnTo>
                  <a:pt x="4856383" y="0"/>
                </a:lnTo>
                <a:lnTo>
                  <a:pt x="4856383" y="3749672"/>
                </a:lnTo>
                <a:lnTo>
                  <a:pt x="0" y="3749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915" r="-315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17698" y="914542"/>
            <a:ext cx="5202832" cy="18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7"/>
              </a:lnSpc>
            </a:pPr>
            <a:r>
              <a:rPr lang="en-US" sz="6421" b="1">
                <a:solidFill>
                  <a:srgbClr val="0F2E4F"/>
                </a:solidFill>
                <a:latin typeface="Inter Bold"/>
                <a:ea typeface="Inter Bold"/>
                <a:cs typeface="Inter Bold"/>
                <a:sym typeface="Inter Bold"/>
              </a:rPr>
              <a:t>System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8677" y="3013895"/>
            <a:ext cx="5104973" cy="142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b="1" spc="-52">
                <a:solidFill>
                  <a:srgbClr val="0F2E4F"/>
                </a:solidFill>
                <a:latin typeface="Inter Medium"/>
                <a:ea typeface="Inter Medium"/>
                <a:cs typeface="Inter Medium"/>
                <a:sym typeface="Inter Medium"/>
              </a:rPr>
              <a:t>A modular pipeline that simulates, routes, and visualizes dynamic satellite networks.</a:t>
            </a:r>
          </a:p>
        </p:txBody>
      </p:sp>
      <p:sp>
        <p:nvSpPr>
          <p:cNvPr id="7" name="Freeform 7"/>
          <p:cNvSpPr/>
          <p:nvPr/>
        </p:nvSpPr>
        <p:spPr>
          <a:xfrm>
            <a:off x="6945502" y="787103"/>
            <a:ext cx="1246909" cy="1355566"/>
          </a:xfrm>
          <a:custGeom>
            <a:avLst/>
            <a:gdLst/>
            <a:ahLst/>
            <a:cxnLst/>
            <a:rect l="l" t="t" r="r" b="b"/>
            <a:pathLst>
              <a:path w="1246909" h="1355566">
                <a:moveTo>
                  <a:pt x="0" y="0"/>
                </a:moveTo>
                <a:lnTo>
                  <a:pt x="1246909" y="0"/>
                </a:lnTo>
                <a:lnTo>
                  <a:pt x="1246909" y="1355567"/>
                </a:lnTo>
                <a:lnTo>
                  <a:pt x="0" y="1355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789" t="-11290" r="-7017" b="-80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229885" y="1104131"/>
            <a:ext cx="689081" cy="699647"/>
          </a:xfrm>
          <a:custGeom>
            <a:avLst/>
            <a:gdLst/>
            <a:ahLst/>
            <a:cxnLst/>
            <a:rect l="l" t="t" r="r" b="b"/>
            <a:pathLst>
              <a:path w="689081" h="699647">
                <a:moveTo>
                  <a:pt x="0" y="0"/>
                </a:moveTo>
                <a:lnTo>
                  <a:pt x="689082" y="0"/>
                </a:lnTo>
                <a:lnTo>
                  <a:pt x="689082" y="699647"/>
                </a:lnTo>
                <a:lnTo>
                  <a:pt x="0" y="699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936" t="-4687" r="-20634" b="-1874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258038" y="721511"/>
            <a:ext cx="9340880" cy="1366498"/>
          </a:xfrm>
          <a:custGeom>
            <a:avLst/>
            <a:gdLst/>
            <a:ahLst/>
            <a:cxnLst/>
            <a:rect l="l" t="t" r="r" b="b"/>
            <a:pathLst>
              <a:path w="9340880" h="1366498">
                <a:moveTo>
                  <a:pt x="0" y="0"/>
                </a:moveTo>
                <a:lnTo>
                  <a:pt x="9340881" y="0"/>
                </a:lnTo>
                <a:lnTo>
                  <a:pt x="9340881" y="1366499"/>
                </a:lnTo>
                <a:lnTo>
                  <a:pt x="0" y="13664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24" t="-6400" r="-468" b="-480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505750" y="1198075"/>
            <a:ext cx="3996094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 b="1" spc="-55">
                <a:solidFill>
                  <a:srgbClr val="0D9BB2"/>
                </a:solidFill>
                <a:latin typeface="Inter Bold"/>
                <a:ea typeface="Inter Bold"/>
                <a:cs typeface="Inter Bold"/>
                <a:sym typeface="Inter Bold"/>
              </a:rPr>
              <a:t>Orbit Simulation Engine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58198" y="1132296"/>
            <a:ext cx="2202071" cy="571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0F2E4F"/>
                </a:solidFill>
                <a:latin typeface="Inter Medium"/>
                <a:ea typeface="Inter Medium"/>
                <a:cs typeface="Inter Medium"/>
                <a:sym typeface="Inter Medium"/>
              </a:rPr>
              <a:t>Computes satellite</a:t>
            </a:r>
          </a:p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0F2E4F"/>
                </a:solidFill>
                <a:latin typeface="Inter Medium"/>
                <a:ea typeface="Inter Medium"/>
                <a:cs typeface="Inter Medium"/>
                <a:sym typeface="Inter Medium"/>
              </a:rPr>
              <a:t>positions over time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725321" y="2120806"/>
            <a:ext cx="295321" cy="459143"/>
          </a:xfrm>
          <a:custGeom>
            <a:avLst/>
            <a:gdLst/>
            <a:ahLst/>
            <a:cxnLst/>
            <a:rect l="l" t="t" r="r" b="b"/>
            <a:pathLst>
              <a:path w="295321" h="459143">
                <a:moveTo>
                  <a:pt x="0" y="0"/>
                </a:moveTo>
                <a:lnTo>
                  <a:pt x="295320" y="0"/>
                </a:lnTo>
                <a:lnTo>
                  <a:pt x="295320" y="459143"/>
                </a:lnTo>
                <a:lnTo>
                  <a:pt x="0" y="4591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6666" t="-42857" r="-59259" b="-45238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945502" y="2623677"/>
            <a:ext cx="1246909" cy="1377430"/>
          </a:xfrm>
          <a:custGeom>
            <a:avLst/>
            <a:gdLst/>
            <a:ahLst/>
            <a:cxnLst/>
            <a:rect l="l" t="t" r="r" b="b"/>
            <a:pathLst>
              <a:path w="1246909" h="1377430">
                <a:moveTo>
                  <a:pt x="0" y="0"/>
                </a:moveTo>
                <a:lnTo>
                  <a:pt x="1246909" y="0"/>
                </a:lnTo>
                <a:lnTo>
                  <a:pt x="1246909" y="1377430"/>
                </a:lnTo>
                <a:lnTo>
                  <a:pt x="0" y="13774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5789" t="-3968" r="-7017" b="-5555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218947" y="2984433"/>
            <a:ext cx="710957" cy="644987"/>
          </a:xfrm>
          <a:custGeom>
            <a:avLst/>
            <a:gdLst/>
            <a:ahLst/>
            <a:cxnLst/>
            <a:rect l="l" t="t" r="r" b="b"/>
            <a:pathLst>
              <a:path w="710957" h="644987">
                <a:moveTo>
                  <a:pt x="0" y="0"/>
                </a:moveTo>
                <a:lnTo>
                  <a:pt x="710957" y="0"/>
                </a:lnTo>
                <a:lnTo>
                  <a:pt x="710957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153" t="-32203" r="-18461" b="-3389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258038" y="2623677"/>
            <a:ext cx="9340880" cy="1355566"/>
          </a:xfrm>
          <a:custGeom>
            <a:avLst/>
            <a:gdLst/>
            <a:ahLst/>
            <a:cxnLst/>
            <a:rect l="l" t="t" r="r" b="b"/>
            <a:pathLst>
              <a:path w="9340880" h="1355566">
                <a:moveTo>
                  <a:pt x="0" y="0"/>
                </a:moveTo>
                <a:lnTo>
                  <a:pt x="9340881" y="0"/>
                </a:lnTo>
                <a:lnTo>
                  <a:pt x="9340881" y="1355566"/>
                </a:lnTo>
                <a:lnTo>
                  <a:pt x="0" y="13555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224" t="-4032" r="-468" b="-7258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517640" y="3080680"/>
            <a:ext cx="2807103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 b="1" spc="-55">
                <a:solidFill>
                  <a:srgbClr val="0D9BB2"/>
                </a:solidFill>
                <a:latin typeface="Inter Bold"/>
                <a:ea typeface="Inter Bold"/>
                <a:cs typeface="Inter Bold"/>
                <a:sym typeface="Inter Bold"/>
              </a:rPr>
              <a:t>topology Builder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50098" y="2834171"/>
            <a:ext cx="3012105" cy="91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b="1" spc="-41">
                <a:solidFill>
                  <a:srgbClr val="0F2E4F"/>
                </a:solidFill>
                <a:latin typeface="Inter Medium"/>
                <a:ea typeface="Inter Medium"/>
                <a:cs typeface="Inter Medium"/>
                <a:sym typeface="Inter Medium"/>
              </a:rPr>
              <a:t>Determines feasible links based on distance and</a:t>
            </a:r>
          </a:p>
          <a:p>
            <a:pPr algn="l">
              <a:lnSpc>
                <a:spcPts val="2506"/>
              </a:lnSpc>
            </a:pPr>
            <a:r>
              <a:rPr lang="en-US" sz="2088" b="1" spc="-41">
                <a:solidFill>
                  <a:srgbClr val="0F2E4F"/>
                </a:solidFill>
                <a:latin typeface="Inter Medium"/>
                <a:ea typeface="Inter Medium"/>
                <a:cs typeface="Inter Medium"/>
                <a:sym typeface="Inter Medium"/>
              </a:rPr>
              <a:t>line-of-sight</a:t>
            </a:r>
          </a:p>
        </p:txBody>
      </p:sp>
      <p:sp>
        <p:nvSpPr>
          <p:cNvPr id="18" name="Freeform 18"/>
          <p:cNvSpPr/>
          <p:nvPr/>
        </p:nvSpPr>
        <p:spPr>
          <a:xfrm>
            <a:off x="11725321" y="3946447"/>
            <a:ext cx="306258" cy="502871"/>
          </a:xfrm>
          <a:custGeom>
            <a:avLst/>
            <a:gdLst/>
            <a:ahLst/>
            <a:cxnLst/>
            <a:rect l="l" t="t" r="r" b="b"/>
            <a:pathLst>
              <a:path w="306258" h="502871">
                <a:moveTo>
                  <a:pt x="0" y="0"/>
                </a:moveTo>
                <a:lnTo>
                  <a:pt x="306258" y="0"/>
                </a:lnTo>
                <a:lnTo>
                  <a:pt x="306258" y="502872"/>
                </a:lnTo>
                <a:lnTo>
                  <a:pt x="0" y="502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4285" t="-19565" r="-53571" b="-10869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945502" y="4482115"/>
            <a:ext cx="1246909" cy="1366498"/>
          </a:xfrm>
          <a:custGeom>
            <a:avLst/>
            <a:gdLst/>
            <a:ahLst/>
            <a:cxnLst/>
            <a:rect l="l" t="t" r="r" b="b"/>
            <a:pathLst>
              <a:path w="1246909" h="1366498">
                <a:moveTo>
                  <a:pt x="0" y="0"/>
                </a:moveTo>
                <a:lnTo>
                  <a:pt x="1246909" y="0"/>
                </a:lnTo>
                <a:lnTo>
                  <a:pt x="1246909" y="1366498"/>
                </a:lnTo>
                <a:lnTo>
                  <a:pt x="0" y="136649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5789" t="-14400" r="-7017" b="-11199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197072" y="4875666"/>
            <a:ext cx="765646" cy="546599"/>
          </a:xfrm>
          <a:custGeom>
            <a:avLst/>
            <a:gdLst/>
            <a:ahLst/>
            <a:cxnLst/>
            <a:rect l="l" t="t" r="r" b="b"/>
            <a:pathLst>
              <a:path w="765646" h="546599">
                <a:moveTo>
                  <a:pt x="0" y="0"/>
                </a:moveTo>
                <a:lnTo>
                  <a:pt x="765646" y="0"/>
                </a:lnTo>
                <a:lnTo>
                  <a:pt x="765646" y="546600"/>
                </a:lnTo>
                <a:lnTo>
                  <a:pt x="0" y="546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857" t="-29999" r="-12857" b="-27999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258038" y="4471183"/>
            <a:ext cx="9340880" cy="1344634"/>
          </a:xfrm>
          <a:custGeom>
            <a:avLst/>
            <a:gdLst/>
            <a:ahLst/>
            <a:cxnLst/>
            <a:rect l="l" t="t" r="r" b="b"/>
            <a:pathLst>
              <a:path w="9340880" h="1344634">
                <a:moveTo>
                  <a:pt x="0" y="0"/>
                </a:moveTo>
                <a:lnTo>
                  <a:pt x="9340881" y="0"/>
                </a:lnTo>
                <a:lnTo>
                  <a:pt x="9340881" y="1344634"/>
                </a:lnTo>
                <a:lnTo>
                  <a:pt x="0" y="134463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224" t="-13821" r="-468" b="-13821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503390" y="4942689"/>
            <a:ext cx="4232077" cy="41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sz="2724" b="1" spc="-54">
                <a:solidFill>
                  <a:srgbClr val="F8950D"/>
                </a:solidFill>
                <a:latin typeface="Inter Bold"/>
                <a:ea typeface="Inter Bold"/>
                <a:cs typeface="Inter Bold"/>
                <a:sym typeface="Inter Bold"/>
              </a:rPr>
              <a:t>Network Condition Model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44230" y="4671593"/>
            <a:ext cx="3598855" cy="91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b="1" spc="-41">
                <a:solidFill>
                  <a:srgbClr val="0F2E4F"/>
                </a:solidFill>
                <a:latin typeface="Inter Medium"/>
                <a:ea typeface="Inter Medium"/>
                <a:cs typeface="Inter Medium"/>
                <a:sym typeface="Inter Medium"/>
              </a:rPr>
              <a:t>Simulates latency, bandwidth, packet loss, and random failures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1725321" y="5837681"/>
            <a:ext cx="306258" cy="448211"/>
          </a:xfrm>
          <a:custGeom>
            <a:avLst/>
            <a:gdLst/>
            <a:ahLst/>
            <a:cxnLst/>
            <a:rect l="l" t="t" r="r" b="b"/>
            <a:pathLst>
              <a:path w="306258" h="448211">
                <a:moveTo>
                  <a:pt x="0" y="0"/>
                </a:moveTo>
                <a:lnTo>
                  <a:pt x="306258" y="0"/>
                </a:lnTo>
                <a:lnTo>
                  <a:pt x="30625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64285" t="-12195" r="-53571" b="-34146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945502" y="6318689"/>
            <a:ext cx="1246909" cy="1355566"/>
          </a:xfrm>
          <a:custGeom>
            <a:avLst/>
            <a:gdLst/>
            <a:ahLst/>
            <a:cxnLst/>
            <a:rect l="l" t="t" r="r" b="b"/>
            <a:pathLst>
              <a:path w="1246909" h="1355566">
                <a:moveTo>
                  <a:pt x="0" y="0"/>
                </a:moveTo>
                <a:lnTo>
                  <a:pt x="1246909" y="0"/>
                </a:lnTo>
                <a:lnTo>
                  <a:pt x="1246909" y="1355566"/>
                </a:lnTo>
                <a:lnTo>
                  <a:pt x="0" y="13555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5789" t="-8064" r="-7017" b="-3225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218947" y="6657580"/>
            <a:ext cx="710957" cy="666851"/>
          </a:xfrm>
          <a:custGeom>
            <a:avLst/>
            <a:gdLst/>
            <a:ahLst/>
            <a:cxnLst/>
            <a:rect l="l" t="t" r="r" b="b"/>
            <a:pathLst>
              <a:path w="710957" h="666851">
                <a:moveTo>
                  <a:pt x="0" y="0"/>
                </a:moveTo>
                <a:lnTo>
                  <a:pt x="710957" y="0"/>
                </a:lnTo>
                <a:lnTo>
                  <a:pt x="710957" y="666851"/>
                </a:lnTo>
                <a:lnTo>
                  <a:pt x="0" y="66685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153" t="-3278" r="-18461" b="-27868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258038" y="6307757"/>
            <a:ext cx="9340880" cy="1322770"/>
          </a:xfrm>
          <a:custGeom>
            <a:avLst/>
            <a:gdLst/>
            <a:ahLst/>
            <a:cxnLst/>
            <a:rect l="l" t="t" r="r" b="b"/>
            <a:pathLst>
              <a:path w="9340880" h="1322770">
                <a:moveTo>
                  <a:pt x="0" y="0"/>
                </a:moveTo>
                <a:lnTo>
                  <a:pt x="9340881" y="0"/>
                </a:lnTo>
                <a:lnTo>
                  <a:pt x="9340881" y="1322770"/>
                </a:lnTo>
                <a:lnTo>
                  <a:pt x="0" y="132277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224" t="-7438" r="-468" b="-6611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8519971" y="6725404"/>
            <a:ext cx="2573974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 b="1" spc="-55">
                <a:solidFill>
                  <a:srgbClr val="0F2E4F"/>
                </a:solidFill>
                <a:latin typeface="Inter Bold"/>
                <a:ea typeface="Inter Bold"/>
                <a:cs typeface="Inter Bold"/>
                <a:sym typeface="Inter Bold"/>
              </a:rPr>
              <a:t>Routing Engine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156110" y="6674685"/>
            <a:ext cx="2410827" cy="571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0F2E4F"/>
                </a:solidFill>
                <a:latin typeface="Inter Medium"/>
                <a:ea typeface="Inter Medium"/>
                <a:cs typeface="Inter Medium"/>
                <a:sym typeface="Inter Medium"/>
              </a:rPr>
              <a:t>Calculates paths and</a:t>
            </a:r>
          </a:p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0F2E4F"/>
                </a:solidFill>
                <a:latin typeface="Inter Medium"/>
                <a:ea typeface="Inter Medium"/>
                <a:cs typeface="Inter Medium"/>
                <a:sym typeface="Inter Medium"/>
              </a:rPr>
              <a:t>reroutes dynamically</a:t>
            </a:r>
          </a:p>
        </p:txBody>
      </p:sp>
      <p:sp>
        <p:nvSpPr>
          <p:cNvPr id="30" name="Freeform 30"/>
          <p:cNvSpPr/>
          <p:nvPr/>
        </p:nvSpPr>
        <p:spPr>
          <a:xfrm>
            <a:off x="11736258" y="7663323"/>
            <a:ext cx="284383" cy="459143"/>
          </a:xfrm>
          <a:custGeom>
            <a:avLst/>
            <a:gdLst/>
            <a:ahLst/>
            <a:cxnLst/>
            <a:rect l="l" t="t" r="r" b="b"/>
            <a:pathLst>
              <a:path w="284383" h="459143">
                <a:moveTo>
                  <a:pt x="0" y="0"/>
                </a:moveTo>
                <a:lnTo>
                  <a:pt x="284383" y="0"/>
                </a:lnTo>
                <a:lnTo>
                  <a:pt x="284383" y="459144"/>
                </a:lnTo>
                <a:lnTo>
                  <a:pt x="0" y="45914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73076" t="-35714" r="-61538" b="-4761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945502" y="8166194"/>
            <a:ext cx="1246909" cy="1377430"/>
          </a:xfrm>
          <a:custGeom>
            <a:avLst/>
            <a:gdLst/>
            <a:ahLst/>
            <a:cxnLst/>
            <a:rect l="l" t="t" r="r" b="b"/>
            <a:pathLst>
              <a:path w="1246909" h="1377430">
                <a:moveTo>
                  <a:pt x="0" y="0"/>
                </a:moveTo>
                <a:lnTo>
                  <a:pt x="1246909" y="0"/>
                </a:lnTo>
                <a:lnTo>
                  <a:pt x="1246909" y="1377431"/>
                </a:lnTo>
                <a:lnTo>
                  <a:pt x="0" y="137743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5789" t="-2380" r="-7017" b="-7936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7208010" y="8516018"/>
            <a:ext cx="732833" cy="688715"/>
          </a:xfrm>
          <a:custGeom>
            <a:avLst/>
            <a:gdLst/>
            <a:ahLst/>
            <a:cxnLst/>
            <a:rect l="l" t="t" r="r" b="b"/>
            <a:pathLst>
              <a:path w="732833" h="688715">
                <a:moveTo>
                  <a:pt x="0" y="0"/>
                </a:moveTo>
                <a:lnTo>
                  <a:pt x="732832" y="0"/>
                </a:lnTo>
                <a:lnTo>
                  <a:pt x="732832" y="688715"/>
                </a:lnTo>
                <a:lnTo>
                  <a:pt x="0" y="68871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4477" t="-23809" r="-16417" b="-1587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8258038" y="8166194"/>
            <a:ext cx="9340880" cy="1322770"/>
          </a:xfrm>
          <a:custGeom>
            <a:avLst/>
            <a:gdLst/>
            <a:ahLst/>
            <a:cxnLst/>
            <a:rect l="l" t="t" r="r" b="b"/>
            <a:pathLst>
              <a:path w="9340880" h="1322770">
                <a:moveTo>
                  <a:pt x="0" y="0"/>
                </a:moveTo>
                <a:lnTo>
                  <a:pt x="9340881" y="0"/>
                </a:lnTo>
                <a:lnTo>
                  <a:pt x="9340881" y="1322771"/>
                </a:lnTo>
                <a:lnTo>
                  <a:pt x="0" y="13227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2224" t="-2479" r="-468" b="-12396"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8513367" y="8351974"/>
            <a:ext cx="3234413" cy="83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 b="1" spc="-55">
                <a:solidFill>
                  <a:srgbClr val="0D9BB2"/>
                </a:solidFill>
                <a:latin typeface="Inter Bold"/>
                <a:ea typeface="Inter Bold"/>
                <a:cs typeface="Inter Bold"/>
                <a:sym typeface="Inter Bold"/>
              </a:rPr>
              <a:t>Visualization and Metrics Dashboard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54511" y="8497047"/>
            <a:ext cx="2570818" cy="571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0F2E4F"/>
                </a:solidFill>
                <a:latin typeface="Inter Medium"/>
                <a:ea typeface="Inter Medium"/>
                <a:cs typeface="Inter Medium"/>
                <a:sym typeface="Inter Medium"/>
              </a:rPr>
              <a:t>Displays live network</a:t>
            </a:r>
          </a:p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0F2E4F"/>
                </a:solidFill>
                <a:latin typeface="Inter Medium"/>
                <a:ea typeface="Inter Medium"/>
                <a:cs typeface="Inter Medium"/>
                <a:sym typeface="Inter Medium"/>
              </a:rPr>
              <a:t>and performance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4928" y="729788"/>
            <a:ext cx="6800959" cy="1661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5"/>
              </a:lnSpc>
            </a:pPr>
            <a:r>
              <a:rPr lang="en-US" sz="6007" b="1">
                <a:solidFill>
                  <a:srgbClr val="122142"/>
                </a:solidFill>
                <a:latin typeface="Inter Bold"/>
                <a:ea typeface="Inter Bold"/>
                <a:cs typeface="Inter Bold"/>
                <a:sym typeface="Inter Bold"/>
              </a:rPr>
              <a:t>Routing Algorithm and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245" y="2758866"/>
            <a:ext cx="7669299" cy="374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7"/>
              </a:lnSpc>
            </a:pPr>
            <a:r>
              <a:rPr lang="en-US" sz="2480" b="1">
                <a:solidFill>
                  <a:srgbClr val="0F8B9B"/>
                </a:solidFill>
                <a:latin typeface="Inter Bold"/>
                <a:ea typeface="Inter Bold"/>
                <a:cs typeface="Inter Bold"/>
                <a:sym typeface="Inter Bold"/>
              </a:rPr>
              <a:t>Adaptive routing with cost-aware weighted edges</a:t>
            </a:r>
          </a:p>
        </p:txBody>
      </p:sp>
      <p:sp>
        <p:nvSpPr>
          <p:cNvPr id="5" name="Freeform 5"/>
          <p:cNvSpPr/>
          <p:nvPr/>
        </p:nvSpPr>
        <p:spPr>
          <a:xfrm>
            <a:off x="579703" y="3509168"/>
            <a:ext cx="9308067" cy="962015"/>
          </a:xfrm>
          <a:custGeom>
            <a:avLst/>
            <a:gdLst/>
            <a:ahLst/>
            <a:cxnLst/>
            <a:rect l="l" t="t" r="r" b="b"/>
            <a:pathLst>
              <a:path w="9308067" h="962015">
                <a:moveTo>
                  <a:pt x="0" y="0"/>
                </a:moveTo>
                <a:lnTo>
                  <a:pt x="9308067" y="0"/>
                </a:lnTo>
                <a:lnTo>
                  <a:pt x="9308067" y="962015"/>
                </a:lnTo>
                <a:lnTo>
                  <a:pt x="0" y="962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45" t="-9090" r="-1410" b="-340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3141" y="3832405"/>
            <a:ext cx="1731987" cy="28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834" b="1" spc="-36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Routing Method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34066" y="3673118"/>
            <a:ext cx="1086306" cy="602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4"/>
              </a:lnSpc>
            </a:pPr>
            <a:r>
              <a:rPr lang="en-US" sz="1873" b="1" spc="-37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Reroutes</a:t>
            </a:r>
          </a:p>
          <a:p>
            <a:pPr algn="ctr">
              <a:lnSpc>
                <a:spcPts val="2434"/>
              </a:lnSpc>
            </a:pPr>
            <a:r>
              <a:rPr lang="en-US" sz="1873" b="1" spc="-37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on Failure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74291" y="3690227"/>
            <a:ext cx="1220543" cy="568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2"/>
              </a:lnSpc>
            </a:pPr>
            <a:r>
              <a:rPr lang="en-US" sz="1756" b="1" spc="-3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Considers</a:t>
            </a:r>
          </a:p>
          <a:p>
            <a:pPr algn="ctr">
              <a:lnSpc>
                <a:spcPts val="2282"/>
              </a:lnSpc>
            </a:pPr>
            <a:r>
              <a:rPr lang="en-US" sz="1756" b="1" spc="-3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Congestion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13775" y="3690227"/>
            <a:ext cx="1156263" cy="568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2"/>
              </a:lnSpc>
            </a:pPr>
            <a:r>
              <a:rPr lang="en-US" sz="1756" b="1" spc="-3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Handles</a:t>
            </a:r>
          </a:p>
          <a:p>
            <a:pPr algn="ctr">
              <a:lnSpc>
                <a:spcPts val="2282"/>
              </a:lnSpc>
            </a:pPr>
            <a:r>
              <a:rPr lang="en-US" sz="1756" b="1" spc="-3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Movement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7526" y="3831910"/>
            <a:ext cx="1387290" cy="28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756" b="1" spc="-35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Performance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9168" y="4780743"/>
            <a:ext cx="2129262" cy="28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756" b="1" spc="-35">
                <a:solidFill>
                  <a:srgbClr val="2C3556"/>
                </a:solidFill>
                <a:latin typeface="Inter Bold"/>
                <a:ea typeface="Inter Bold"/>
                <a:cs typeface="Inter Bold"/>
                <a:sym typeface="Inter Bold"/>
              </a:rPr>
              <a:t>Static Shortest Path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8770" y="5678752"/>
            <a:ext cx="1169065" cy="56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834" b="1" spc="-36">
                <a:solidFill>
                  <a:srgbClr val="2C3556"/>
                </a:solidFill>
                <a:latin typeface="Inter Bold"/>
                <a:ea typeface="Inter Bold"/>
                <a:cs typeface="Inter Bold"/>
                <a:sym typeface="Inter Bold"/>
              </a:rPr>
              <a:t>Dijkstra on</a:t>
            </a:r>
          </a:p>
          <a:p>
            <a:pPr algn="l">
              <a:lnSpc>
                <a:spcPts val="2383"/>
              </a:lnSpc>
            </a:pPr>
            <a:r>
              <a:rPr lang="en-US" sz="1834" b="1" spc="-36">
                <a:solidFill>
                  <a:srgbClr val="2C3556"/>
                </a:solidFill>
                <a:latin typeface="Inter Bold"/>
                <a:ea typeface="Inter Bold"/>
                <a:cs typeface="Inter Bold"/>
                <a:sym typeface="Inter Bold"/>
              </a:rPr>
              <a:t>Live Graph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83256" y="5858370"/>
            <a:ext cx="387924" cy="26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5"/>
              </a:lnSpc>
            </a:pPr>
            <a:r>
              <a:rPr lang="en-US" sz="1658" b="1" spc="-33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54195" y="5850557"/>
            <a:ext cx="1050844" cy="28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834" b="1" spc="-36">
                <a:solidFill>
                  <a:srgbClr val="F49233"/>
                </a:solidFill>
                <a:latin typeface="Inter Bold"/>
                <a:ea typeface="Inter Bold"/>
                <a:cs typeface="Inter Bold"/>
                <a:sym typeface="Inter Bold"/>
              </a:rPr>
              <a:t>Moderate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7491" y="6822882"/>
            <a:ext cx="2297000" cy="568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756" b="1" spc="-35">
                <a:solidFill>
                  <a:srgbClr val="0F8B9B"/>
                </a:solidFill>
                <a:latin typeface="Inter Bold"/>
                <a:ea typeface="Inter Bold"/>
                <a:cs typeface="Inter Bold"/>
                <a:sym typeface="Inter Bold"/>
              </a:rPr>
              <a:t>Adaptive Cost-Aware</a:t>
            </a:r>
          </a:p>
          <a:p>
            <a:pPr algn="l">
              <a:lnSpc>
                <a:spcPts val="2282"/>
              </a:lnSpc>
            </a:pPr>
            <a:r>
              <a:rPr lang="en-US" sz="1756" b="1" spc="-35">
                <a:solidFill>
                  <a:srgbClr val="0F8B9B"/>
                </a:solidFill>
                <a:latin typeface="Inter Bold"/>
                <a:ea typeface="Inter Bold"/>
                <a:cs typeface="Inter Bold"/>
                <a:sym typeface="Inter Bold"/>
              </a:rPr>
              <a:t>Routing (ours)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83256" y="6972872"/>
            <a:ext cx="387924" cy="26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5"/>
              </a:lnSpc>
            </a:pPr>
            <a:r>
              <a:rPr lang="en-US" sz="1658" b="1" spc="-33">
                <a:solidFill>
                  <a:srgbClr val="0F8B9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87354" y="6947228"/>
            <a:ext cx="409104" cy="3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931" b="1" spc="-38">
                <a:solidFill>
                  <a:srgbClr val="0F8B9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Full</a:t>
            </a:r>
          </a:p>
        </p:txBody>
      </p:sp>
      <p:sp>
        <p:nvSpPr>
          <p:cNvPr id="18" name="Freeform 18"/>
          <p:cNvSpPr/>
          <p:nvPr/>
        </p:nvSpPr>
        <p:spPr>
          <a:xfrm>
            <a:off x="557828" y="3487304"/>
            <a:ext cx="9340880" cy="4197883"/>
          </a:xfrm>
          <a:custGeom>
            <a:avLst/>
            <a:gdLst/>
            <a:ahLst/>
            <a:cxnLst/>
            <a:rect l="l" t="t" r="r" b="b"/>
            <a:pathLst>
              <a:path w="9340880" h="4197883">
                <a:moveTo>
                  <a:pt x="0" y="0"/>
                </a:moveTo>
                <a:lnTo>
                  <a:pt x="9340880" y="0"/>
                </a:lnTo>
                <a:lnTo>
                  <a:pt x="9340880" y="4197883"/>
                </a:lnTo>
                <a:lnTo>
                  <a:pt x="0" y="4197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05" t="-1562" r="-1288" b="-781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79703" y="8013147"/>
            <a:ext cx="1607856" cy="1541410"/>
          </a:xfrm>
          <a:custGeom>
            <a:avLst/>
            <a:gdLst/>
            <a:ahLst/>
            <a:cxnLst/>
            <a:rect l="l" t="t" r="r" b="b"/>
            <a:pathLst>
              <a:path w="1607856" h="1541410">
                <a:moveTo>
                  <a:pt x="0" y="0"/>
                </a:moveTo>
                <a:lnTo>
                  <a:pt x="1607857" y="0"/>
                </a:lnTo>
                <a:lnTo>
                  <a:pt x="1607857" y="1541410"/>
                </a:lnTo>
                <a:lnTo>
                  <a:pt x="0" y="1541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23" t="-5673" b="-638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95301" y="8442339"/>
            <a:ext cx="991710" cy="61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4" b="1" spc="-40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Cost</a:t>
            </a:r>
          </a:p>
          <a:p>
            <a:pPr algn="ctr">
              <a:lnSpc>
                <a:spcPts val="2430"/>
              </a:lnSpc>
            </a:pPr>
            <a:r>
              <a:rPr lang="en-US" sz="2024" b="1" spc="-40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Formula</a:t>
            </a:r>
          </a:p>
        </p:txBody>
      </p:sp>
      <p:sp>
        <p:nvSpPr>
          <p:cNvPr id="21" name="Freeform 21"/>
          <p:cNvSpPr/>
          <p:nvPr/>
        </p:nvSpPr>
        <p:spPr>
          <a:xfrm>
            <a:off x="2187560" y="8013147"/>
            <a:ext cx="7700211" cy="1541410"/>
          </a:xfrm>
          <a:custGeom>
            <a:avLst/>
            <a:gdLst/>
            <a:ahLst/>
            <a:cxnLst/>
            <a:rect l="l" t="t" r="r" b="b"/>
            <a:pathLst>
              <a:path w="7700211" h="1541410">
                <a:moveTo>
                  <a:pt x="0" y="0"/>
                </a:moveTo>
                <a:lnTo>
                  <a:pt x="7700210" y="0"/>
                </a:lnTo>
                <a:lnTo>
                  <a:pt x="7700210" y="1541410"/>
                </a:lnTo>
                <a:lnTo>
                  <a:pt x="0" y="154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2" t="-5673" r="-1704" b="-6382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530492" y="8575137"/>
            <a:ext cx="6804747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</a:pPr>
            <a:r>
              <a:rPr lang="en-US" sz="2214" b="1" spc="-44">
                <a:solidFill>
                  <a:srgbClr val="0F8B9B"/>
                </a:solidFill>
                <a:latin typeface="Inter Bold"/>
                <a:ea typeface="Inter Bold"/>
                <a:cs typeface="Inter Bold"/>
                <a:sym typeface="Inter Bold"/>
              </a:rPr>
              <a:t>Cost = </a:t>
            </a:r>
            <a:r>
              <a:rPr lang="en-US" sz="2214" b="1" spc="-44">
                <a:solidFill>
                  <a:srgbClr val="2C3556"/>
                </a:solidFill>
                <a:latin typeface="Inter Bold"/>
                <a:ea typeface="Inter Bold"/>
                <a:cs typeface="Inter Bold"/>
                <a:sym typeface="Inter Bold"/>
              </a:rPr>
              <a:t>a×Latency </a:t>
            </a:r>
            <a:r>
              <a:rPr lang="en-US" sz="2214" b="1" spc="-44">
                <a:solidFill>
                  <a:srgbClr val="0F8B9B"/>
                </a:solidFill>
                <a:latin typeface="Inter Bold"/>
                <a:ea typeface="Inter Bold"/>
                <a:cs typeface="Inter Bold"/>
                <a:sym typeface="Inter Bold"/>
              </a:rPr>
              <a:t>+ </a:t>
            </a:r>
            <a:r>
              <a:rPr lang="en-US" sz="2214" b="1" spc="-44">
                <a:solidFill>
                  <a:srgbClr val="2C3556"/>
                </a:solidFill>
                <a:latin typeface="Inter Bold"/>
                <a:ea typeface="Inter Bold"/>
                <a:cs typeface="Inter Bold"/>
                <a:sym typeface="Inter Bold"/>
              </a:rPr>
              <a:t>b×Congestion </a:t>
            </a:r>
            <a:r>
              <a:rPr lang="en-US" sz="2214" b="1" spc="-44">
                <a:solidFill>
                  <a:srgbClr val="0F8B9B"/>
                </a:solidFill>
                <a:latin typeface="Inter Bold"/>
                <a:ea typeface="Inter Bold"/>
                <a:cs typeface="Inter Bold"/>
                <a:sym typeface="Inter Bold"/>
              </a:rPr>
              <a:t>+ </a:t>
            </a:r>
            <a:r>
              <a:rPr lang="en-US" sz="2214" b="1" spc="-44">
                <a:solidFill>
                  <a:srgbClr val="2C3556"/>
                </a:solidFill>
                <a:latin typeface="Inter Bold"/>
                <a:ea typeface="Inter Bold"/>
                <a:cs typeface="Inter Bold"/>
                <a:sym typeface="Inter Bold"/>
              </a:rPr>
              <a:t>c×Failure Risk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930096" y="1224383"/>
            <a:ext cx="732833" cy="65592"/>
          </a:xfrm>
          <a:custGeom>
            <a:avLst/>
            <a:gdLst/>
            <a:ahLst/>
            <a:cxnLst/>
            <a:rect l="l" t="t" r="r" b="b"/>
            <a:pathLst>
              <a:path w="732833" h="65592">
                <a:moveTo>
                  <a:pt x="0" y="0"/>
                </a:moveTo>
                <a:lnTo>
                  <a:pt x="732832" y="0"/>
                </a:lnTo>
                <a:lnTo>
                  <a:pt x="732832" y="65591"/>
                </a:lnTo>
                <a:lnTo>
                  <a:pt x="0" y="655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910" t="-233333" r="-2985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5818836" y="1090837"/>
            <a:ext cx="1349974" cy="28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756" b="1" spc="-35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Chosen Path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930096" y="1661662"/>
            <a:ext cx="732833" cy="54660"/>
          </a:xfrm>
          <a:custGeom>
            <a:avLst/>
            <a:gdLst/>
            <a:ahLst/>
            <a:cxnLst/>
            <a:rect l="l" t="t" r="r" b="b"/>
            <a:pathLst>
              <a:path w="732833" h="54660">
                <a:moveTo>
                  <a:pt x="0" y="0"/>
                </a:moveTo>
                <a:lnTo>
                  <a:pt x="732832" y="0"/>
                </a:lnTo>
                <a:lnTo>
                  <a:pt x="732832" y="54660"/>
                </a:lnTo>
                <a:lnTo>
                  <a:pt x="0" y="546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910" t="-299999" r="-2985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5815196" y="1528096"/>
            <a:ext cx="1714001" cy="28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834" b="1" spc="-36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Alternative Path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930096" y="2098942"/>
            <a:ext cx="732833" cy="54660"/>
          </a:xfrm>
          <a:custGeom>
            <a:avLst/>
            <a:gdLst/>
            <a:ahLst/>
            <a:cxnLst/>
            <a:rect l="l" t="t" r="r" b="b"/>
            <a:pathLst>
              <a:path w="732833" h="54660">
                <a:moveTo>
                  <a:pt x="0" y="0"/>
                </a:moveTo>
                <a:lnTo>
                  <a:pt x="732832" y="0"/>
                </a:lnTo>
                <a:lnTo>
                  <a:pt x="732832" y="54659"/>
                </a:lnTo>
                <a:lnTo>
                  <a:pt x="0" y="546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910" t="-319999" r="-2985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5819964" y="1964860"/>
            <a:ext cx="1237166" cy="28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834" b="1" spc="-36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Other Links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10066" y="8936851"/>
            <a:ext cx="5198127" cy="612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1850" b="1" spc="-37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Nodes represent satellites and ground stations</a:t>
            </a:r>
          </a:p>
          <a:p>
            <a:pPr algn="l">
              <a:lnSpc>
                <a:spcPts val="2405"/>
              </a:lnSpc>
            </a:pPr>
            <a:r>
              <a:rPr lang="en-US" sz="1850" b="1" spc="-37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Edges represent communication links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0675292" y="3093752"/>
            <a:ext cx="754708" cy="765239"/>
          </a:xfrm>
          <a:custGeom>
            <a:avLst/>
            <a:gdLst/>
            <a:ahLst/>
            <a:cxnLst/>
            <a:rect l="l" t="t" r="r" b="b"/>
            <a:pathLst>
              <a:path w="754708" h="765239">
                <a:moveTo>
                  <a:pt x="0" y="0"/>
                </a:moveTo>
                <a:lnTo>
                  <a:pt x="754708" y="0"/>
                </a:lnTo>
                <a:lnTo>
                  <a:pt x="754708" y="765239"/>
                </a:lnTo>
                <a:lnTo>
                  <a:pt x="0" y="7652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449" t="-12857" r="-14492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762794" y="3257732"/>
            <a:ext cx="557828" cy="470075"/>
          </a:xfrm>
          <a:custGeom>
            <a:avLst/>
            <a:gdLst/>
            <a:ahLst/>
            <a:cxnLst/>
            <a:rect l="l" t="t" r="r" b="b"/>
            <a:pathLst>
              <a:path w="557828" h="470075">
                <a:moveTo>
                  <a:pt x="0" y="0"/>
                </a:moveTo>
                <a:lnTo>
                  <a:pt x="557828" y="0"/>
                </a:lnTo>
                <a:lnTo>
                  <a:pt x="557828" y="470076"/>
                </a:lnTo>
                <a:lnTo>
                  <a:pt x="0" y="4700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647" t="-9302" r="-1960" b="-27906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3770689" y="2558085"/>
            <a:ext cx="765646" cy="765239"/>
          </a:xfrm>
          <a:custGeom>
            <a:avLst/>
            <a:gdLst/>
            <a:ahLst/>
            <a:cxnLst/>
            <a:rect l="l" t="t" r="r" b="b"/>
            <a:pathLst>
              <a:path w="765646" h="765239">
                <a:moveTo>
                  <a:pt x="0" y="0"/>
                </a:moveTo>
                <a:lnTo>
                  <a:pt x="765646" y="0"/>
                </a:lnTo>
                <a:lnTo>
                  <a:pt x="765646" y="765239"/>
                </a:lnTo>
                <a:lnTo>
                  <a:pt x="0" y="7652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142" t="-27142" r="-7142" b="-14285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3869129" y="2711133"/>
            <a:ext cx="557828" cy="459143"/>
          </a:xfrm>
          <a:custGeom>
            <a:avLst/>
            <a:gdLst/>
            <a:ahLst/>
            <a:cxnLst/>
            <a:rect l="l" t="t" r="r" b="b"/>
            <a:pathLst>
              <a:path w="557828" h="459143">
                <a:moveTo>
                  <a:pt x="0" y="0"/>
                </a:moveTo>
                <a:lnTo>
                  <a:pt x="557828" y="0"/>
                </a:lnTo>
                <a:lnTo>
                  <a:pt x="557828" y="459143"/>
                </a:lnTo>
                <a:lnTo>
                  <a:pt x="0" y="45914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7450" t="-30952" r="-29411" b="-11904"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6056689" y="3618488"/>
            <a:ext cx="765646" cy="765239"/>
          </a:xfrm>
          <a:custGeom>
            <a:avLst/>
            <a:gdLst/>
            <a:ahLst/>
            <a:cxnLst/>
            <a:rect l="l" t="t" r="r" b="b"/>
            <a:pathLst>
              <a:path w="765646" h="765239">
                <a:moveTo>
                  <a:pt x="0" y="0"/>
                </a:moveTo>
                <a:lnTo>
                  <a:pt x="765646" y="0"/>
                </a:lnTo>
                <a:lnTo>
                  <a:pt x="765646" y="765239"/>
                </a:lnTo>
                <a:lnTo>
                  <a:pt x="0" y="7652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1428" t="-25714" r="-21428" b="-15714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166067" y="3760604"/>
            <a:ext cx="546890" cy="459143"/>
          </a:xfrm>
          <a:custGeom>
            <a:avLst/>
            <a:gdLst/>
            <a:ahLst/>
            <a:cxnLst/>
            <a:rect l="l" t="t" r="r" b="b"/>
            <a:pathLst>
              <a:path w="546890" h="459143">
                <a:moveTo>
                  <a:pt x="0" y="0"/>
                </a:moveTo>
                <a:lnTo>
                  <a:pt x="546890" y="0"/>
                </a:lnTo>
                <a:lnTo>
                  <a:pt x="546890" y="459143"/>
                </a:lnTo>
                <a:lnTo>
                  <a:pt x="0" y="45914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2000" t="-26190" r="-10000" b="-16666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3125359" y="4842870"/>
            <a:ext cx="776584" cy="765239"/>
          </a:xfrm>
          <a:custGeom>
            <a:avLst/>
            <a:gdLst/>
            <a:ahLst/>
            <a:cxnLst/>
            <a:rect l="l" t="t" r="r" b="b"/>
            <a:pathLst>
              <a:path w="776584" h="765239">
                <a:moveTo>
                  <a:pt x="0" y="0"/>
                </a:moveTo>
                <a:lnTo>
                  <a:pt x="776584" y="0"/>
                </a:lnTo>
                <a:lnTo>
                  <a:pt x="776584" y="765239"/>
                </a:lnTo>
                <a:lnTo>
                  <a:pt x="0" y="7652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8450" t="-17142" r="-4225" b="-24285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3234737" y="4995918"/>
            <a:ext cx="546890" cy="459143"/>
          </a:xfrm>
          <a:custGeom>
            <a:avLst/>
            <a:gdLst/>
            <a:ahLst/>
            <a:cxnLst/>
            <a:rect l="l" t="t" r="r" b="b"/>
            <a:pathLst>
              <a:path w="546890" h="459143">
                <a:moveTo>
                  <a:pt x="0" y="0"/>
                </a:moveTo>
                <a:lnTo>
                  <a:pt x="546890" y="0"/>
                </a:lnTo>
                <a:lnTo>
                  <a:pt x="546890" y="459144"/>
                </a:lnTo>
                <a:lnTo>
                  <a:pt x="0" y="45914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2000" t="-16666" r="-28000" b="-26190"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7041091" y="5564382"/>
            <a:ext cx="743770" cy="754307"/>
          </a:xfrm>
          <a:custGeom>
            <a:avLst/>
            <a:gdLst/>
            <a:ahLst/>
            <a:cxnLst/>
            <a:rect l="l" t="t" r="r" b="b"/>
            <a:pathLst>
              <a:path w="743770" h="754307">
                <a:moveTo>
                  <a:pt x="0" y="0"/>
                </a:moveTo>
                <a:lnTo>
                  <a:pt x="743770" y="0"/>
                </a:lnTo>
                <a:lnTo>
                  <a:pt x="743770" y="754307"/>
                </a:lnTo>
                <a:lnTo>
                  <a:pt x="0" y="75430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8823" r="-10294" b="-15942"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7216096" y="5706497"/>
            <a:ext cx="382823" cy="470075"/>
          </a:xfrm>
          <a:custGeom>
            <a:avLst/>
            <a:gdLst/>
            <a:ahLst/>
            <a:cxnLst/>
            <a:rect l="l" t="t" r="r" b="b"/>
            <a:pathLst>
              <a:path w="382823" h="470075">
                <a:moveTo>
                  <a:pt x="0" y="0"/>
                </a:moveTo>
                <a:lnTo>
                  <a:pt x="382823" y="0"/>
                </a:lnTo>
                <a:lnTo>
                  <a:pt x="382823" y="470076"/>
                </a:lnTo>
                <a:lnTo>
                  <a:pt x="0" y="47007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5714" t="-30232" r="-11428" b="-9302"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5564488" y="6810628"/>
            <a:ext cx="754708" cy="765239"/>
          </a:xfrm>
          <a:custGeom>
            <a:avLst/>
            <a:gdLst/>
            <a:ahLst/>
            <a:cxnLst/>
            <a:rect l="l" t="t" r="r" b="b"/>
            <a:pathLst>
              <a:path w="754708" h="765239">
                <a:moveTo>
                  <a:pt x="0" y="0"/>
                </a:moveTo>
                <a:lnTo>
                  <a:pt x="754708" y="0"/>
                </a:lnTo>
                <a:lnTo>
                  <a:pt x="754708" y="765239"/>
                </a:lnTo>
                <a:lnTo>
                  <a:pt x="0" y="76523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4492" t="-22857" r="-1449" b="-18571"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5662928" y="6963676"/>
            <a:ext cx="557828" cy="459143"/>
          </a:xfrm>
          <a:custGeom>
            <a:avLst/>
            <a:gdLst/>
            <a:ahLst/>
            <a:cxnLst/>
            <a:rect l="l" t="t" r="r" b="b"/>
            <a:pathLst>
              <a:path w="557828" h="459143">
                <a:moveTo>
                  <a:pt x="0" y="0"/>
                </a:moveTo>
                <a:lnTo>
                  <a:pt x="557828" y="0"/>
                </a:lnTo>
                <a:lnTo>
                  <a:pt x="557828" y="459143"/>
                </a:lnTo>
                <a:lnTo>
                  <a:pt x="0" y="45914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37254" t="-23809" r="-19607" b="-19047"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420679" y="7925691"/>
            <a:ext cx="732833" cy="765239"/>
          </a:xfrm>
          <a:custGeom>
            <a:avLst/>
            <a:gdLst/>
            <a:ahLst/>
            <a:cxnLst/>
            <a:rect l="l" t="t" r="r" b="b"/>
            <a:pathLst>
              <a:path w="732833" h="765239">
                <a:moveTo>
                  <a:pt x="0" y="0"/>
                </a:moveTo>
                <a:lnTo>
                  <a:pt x="732833" y="0"/>
                </a:lnTo>
                <a:lnTo>
                  <a:pt x="732833" y="765239"/>
                </a:lnTo>
                <a:lnTo>
                  <a:pt x="0" y="7652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9402" t="-28571" b="-12857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3606622" y="8067807"/>
            <a:ext cx="382823" cy="481007"/>
          </a:xfrm>
          <a:custGeom>
            <a:avLst/>
            <a:gdLst/>
            <a:ahLst/>
            <a:cxnLst/>
            <a:rect l="l" t="t" r="r" b="b"/>
            <a:pathLst>
              <a:path w="382823" h="481007">
                <a:moveTo>
                  <a:pt x="0" y="0"/>
                </a:moveTo>
                <a:lnTo>
                  <a:pt x="382823" y="0"/>
                </a:lnTo>
                <a:lnTo>
                  <a:pt x="382823" y="481007"/>
                </a:lnTo>
                <a:lnTo>
                  <a:pt x="0" y="48100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28571" t="-29545" r="-42857" b="-6818"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1014364" y="3498236"/>
            <a:ext cx="98440" cy="2918841"/>
          </a:xfrm>
          <a:custGeom>
            <a:avLst/>
            <a:gdLst/>
            <a:ahLst/>
            <a:cxnLst/>
            <a:rect l="l" t="t" r="r" b="b"/>
            <a:pathLst>
              <a:path w="98440" h="2918841">
                <a:moveTo>
                  <a:pt x="0" y="0"/>
                </a:moveTo>
                <a:lnTo>
                  <a:pt x="98440" y="0"/>
                </a:lnTo>
                <a:lnTo>
                  <a:pt x="98440" y="2918841"/>
                </a:lnTo>
                <a:lnTo>
                  <a:pt x="0" y="291884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133333" t="-2621" b="-749"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1014364" y="5247354"/>
            <a:ext cx="2450067" cy="1464886"/>
          </a:xfrm>
          <a:custGeom>
            <a:avLst/>
            <a:gdLst/>
            <a:ahLst/>
            <a:cxnLst/>
            <a:rect l="l" t="t" r="r" b="b"/>
            <a:pathLst>
              <a:path w="2450067" h="1464886">
                <a:moveTo>
                  <a:pt x="0" y="0"/>
                </a:moveTo>
                <a:lnTo>
                  <a:pt x="2450067" y="0"/>
                </a:lnTo>
                <a:lnTo>
                  <a:pt x="2450067" y="1464886"/>
                </a:lnTo>
                <a:lnTo>
                  <a:pt x="0" y="146488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5357" t="-7462" r="-1785" b="-10447"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1079990" y="6919948"/>
            <a:ext cx="2395378" cy="1279043"/>
          </a:xfrm>
          <a:custGeom>
            <a:avLst/>
            <a:gdLst/>
            <a:ahLst/>
            <a:cxnLst/>
            <a:rect l="l" t="t" r="r" b="b"/>
            <a:pathLst>
              <a:path w="2395378" h="1279043">
                <a:moveTo>
                  <a:pt x="0" y="0"/>
                </a:moveTo>
                <a:lnTo>
                  <a:pt x="2395378" y="0"/>
                </a:lnTo>
                <a:lnTo>
                  <a:pt x="2395378" y="1279042"/>
                </a:lnTo>
                <a:lnTo>
                  <a:pt x="0" y="127904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8219" t="-5128" r="-1369" b="-12820"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3355053" y="5181762"/>
            <a:ext cx="437512" cy="2754861"/>
          </a:xfrm>
          <a:custGeom>
            <a:avLst/>
            <a:gdLst/>
            <a:ahLst/>
            <a:cxnLst/>
            <a:rect l="l" t="t" r="r" b="b"/>
            <a:pathLst>
              <a:path w="437512" h="2754861">
                <a:moveTo>
                  <a:pt x="0" y="0"/>
                </a:moveTo>
                <a:lnTo>
                  <a:pt x="437512" y="0"/>
                </a:lnTo>
                <a:lnTo>
                  <a:pt x="437512" y="2754861"/>
                </a:lnTo>
                <a:lnTo>
                  <a:pt x="0" y="275486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17500" t="-1587" r="-32499"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3519120" y="3214004"/>
            <a:ext cx="601579" cy="1661662"/>
          </a:xfrm>
          <a:custGeom>
            <a:avLst/>
            <a:gdLst/>
            <a:ahLst/>
            <a:cxnLst/>
            <a:rect l="l" t="t" r="r" b="b"/>
            <a:pathLst>
              <a:path w="601579" h="1661662">
                <a:moveTo>
                  <a:pt x="0" y="0"/>
                </a:moveTo>
                <a:lnTo>
                  <a:pt x="601579" y="0"/>
                </a:lnTo>
                <a:lnTo>
                  <a:pt x="601579" y="1661662"/>
                </a:lnTo>
                <a:lnTo>
                  <a:pt x="0" y="166166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40000" t="-13157" r="-5454" b="-3289"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3967569" y="3006296"/>
            <a:ext cx="2362565" cy="852695"/>
          </a:xfrm>
          <a:custGeom>
            <a:avLst/>
            <a:gdLst/>
            <a:ahLst/>
            <a:cxnLst/>
            <a:rect l="l" t="t" r="r" b="b"/>
            <a:pathLst>
              <a:path w="2362565" h="852695">
                <a:moveTo>
                  <a:pt x="0" y="0"/>
                </a:moveTo>
                <a:lnTo>
                  <a:pt x="2362565" y="0"/>
                </a:lnTo>
                <a:lnTo>
                  <a:pt x="2362565" y="852695"/>
                </a:lnTo>
                <a:lnTo>
                  <a:pt x="0" y="85269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1851" t="-1282"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3934756" y="5586245"/>
            <a:ext cx="3248526" cy="1421158"/>
          </a:xfrm>
          <a:custGeom>
            <a:avLst/>
            <a:gdLst/>
            <a:ahLst/>
            <a:cxnLst/>
            <a:rect l="l" t="t" r="r" b="b"/>
            <a:pathLst>
              <a:path w="3248526" h="1421158">
                <a:moveTo>
                  <a:pt x="0" y="0"/>
                </a:moveTo>
                <a:lnTo>
                  <a:pt x="3248526" y="0"/>
                </a:lnTo>
                <a:lnTo>
                  <a:pt x="3248526" y="1421159"/>
                </a:lnTo>
                <a:lnTo>
                  <a:pt x="0" y="142115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336" t="-31538" r="-673" b="-4615"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4120699" y="7335363"/>
            <a:ext cx="1531292" cy="874559"/>
          </a:xfrm>
          <a:custGeom>
            <a:avLst/>
            <a:gdLst/>
            <a:ahLst/>
            <a:cxnLst/>
            <a:rect l="l" t="t" r="r" b="b"/>
            <a:pathLst>
              <a:path w="1531292" h="874559">
                <a:moveTo>
                  <a:pt x="0" y="0"/>
                </a:moveTo>
                <a:lnTo>
                  <a:pt x="1531291" y="0"/>
                </a:lnTo>
                <a:lnTo>
                  <a:pt x="1531291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-12857" t="-6250" r="-2142" b="-17500"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6592641" y="4307203"/>
            <a:ext cx="710957" cy="1322770"/>
          </a:xfrm>
          <a:custGeom>
            <a:avLst/>
            <a:gdLst/>
            <a:ahLst/>
            <a:cxnLst/>
            <a:rect l="l" t="t" r="r" b="b"/>
            <a:pathLst>
              <a:path w="710957" h="1322770">
                <a:moveTo>
                  <a:pt x="0" y="0"/>
                </a:moveTo>
                <a:lnTo>
                  <a:pt x="710957" y="0"/>
                </a:lnTo>
                <a:lnTo>
                  <a:pt x="710957" y="1322770"/>
                </a:lnTo>
                <a:lnTo>
                  <a:pt x="0" y="132277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-7692" t="-18181" r="-16923" b="-12396"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1397187" y="2962569"/>
            <a:ext cx="2406316" cy="502871"/>
          </a:xfrm>
          <a:custGeom>
            <a:avLst/>
            <a:gdLst/>
            <a:ahLst/>
            <a:cxnLst/>
            <a:rect l="l" t="t" r="r" b="b"/>
            <a:pathLst>
              <a:path w="2406316" h="502871">
                <a:moveTo>
                  <a:pt x="0" y="0"/>
                </a:moveTo>
                <a:lnTo>
                  <a:pt x="2406315" y="0"/>
                </a:lnTo>
                <a:lnTo>
                  <a:pt x="2406315" y="502871"/>
                </a:lnTo>
                <a:lnTo>
                  <a:pt x="0" y="50287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-3181" t="-36956" r="-5454" b="-36956"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3858191" y="5236422"/>
            <a:ext cx="3193837" cy="655919"/>
          </a:xfrm>
          <a:custGeom>
            <a:avLst/>
            <a:gdLst/>
            <a:ahLst/>
            <a:cxnLst/>
            <a:rect l="l" t="t" r="r" b="b"/>
            <a:pathLst>
              <a:path w="3193837" h="655919">
                <a:moveTo>
                  <a:pt x="0" y="0"/>
                </a:moveTo>
                <a:lnTo>
                  <a:pt x="3193838" y="0"/>
                </a:lnTo>
                <a:lnTo>
                  <a:pt x="319383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-18150" t="-15000" r="-4794" b="-16666"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1233120" y="2973501"/>
            <a:ext cx="2570383" cy="502871"/>
          </a:xfrm>
          <a:custGeom>
            <a:avLst/>
            <a:gdLst/>
            <a:ahLst/>
            <a:cxnLst/>
            <a:rect l="l" t="t" r="r" b="b"/>
            <a:pathLst>
              <a:path w="2570383" h="502871">
                <a:moveTo>
                  <a:pt x="0" y="0"/>
                </a:moveTo>
                <a:lnTo>
                  <a:pt x="2570382" y="0"/>
                </a:lnTo>
                <a:lnTo>
                  <a:pt x="2570382" y="502871"/>
                </a:lnTo>
                <a:lnTo>
                  <a:pt x="0" y="502871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-13617" t="-39130" r="-5106" b="-34782"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5385556" y="5850557"/>
            <a:ext cx="798013" cy="28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834" b="1" spc="-36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Limited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047888" y="5841880"/>
            <a:ext cx="688037" cy="29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4"/>
              </a:lnSpc>
            </a:pPr>
            <a:r>
              <a:rPr lang="en-US" sz="1873" b="1" spc="-37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Partial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862009" y="4780743"/>
            <a:ext cx="435215" cy="28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2"/>
              </a:lnSpc>
            </a:pPr>
            <a:r>
              <a:rPr lang="en-US" sz="1756" b="1" spc="-35">
                <a:solidFill>
                  <a:srgbClr val="F49233"/>
                </a:solidFill>
                <a:latin typeface="Inter Bold"/>
                <a:ea typeface="Inter Bold"/>
                <a:cs typeface="Inter Bold"/>
                <a:sym typeface="Inter Bold"/>
              </a:rPr>
              <a:t>Low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843168" y="6964565"/>
            <a:ext cx="472897" cy="28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2"/>
              </a:lnSpc>
            </a:pPr>
            <a:r>
              <a:rPr lang="en-US" sz="1756" b="1" spc="-35">
                <a:solidFill>
                  <a:srgbClr val="F49233"/>
                </a:solidFill>
                <a:latin typeface="Inter Bold"/>
                <a:ea typeface="Inter Bold"/>
                <a:cs typeface="Inter Bold"/>
                <a:sym typeface="Inter Bold"/>
              </a:rPr>
              <a:t>Best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90600" y="6972872"/>
            <a:ext cx="387924" cy="26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5"/>
              </a:lnSpc>
            </a:pPr>
            <a:r>
              <a:rPr lang="en-US" sz="1658" b="1" spc="-33">
                <a:solidFill>
                  <a:srgbClr val="0F8B9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Yes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695496" y="4781237"/>
            <a:ext cx="634799" cy="28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834" b="1" spc="-36" dirty="0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590600" y="4781238"/>
            <a:ext cx="347039" cy="28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834" b="1" spc="-36" dirty="0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47889" y="4781238"/>
            <a:ext cx="497094" cy="28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834" b="1" spc="-36" dirty="0">
                <a:solidFill>
                  <a:srgbClr val="2C35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5806" y="739391"/>
            <a:ext cx="10392033" cy="896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1"/>
              </a:lnSpc>
            </a:pPr>
            <a:r>
              <a:rPr lang="en-US" sz="6821" b="1" spc="-203">
                <a:solidFill>
                  <a:srgbClr val="0F2C4B"/>
                </a:solidFill>
                <a:latin typeface="Inter Bold"/>
                <a:ea typeface="Inter Bold"/>
                <a:cs typeface="Inter Bold"/>
                <a:sym typeface="Inter Bold"/>
              </a:rPr>
              <a:t>Handling Dynamic Events</a:t>
            </a:r>
          </a:p>
        </p:txBody>
      </p:sp>
      <p:sp>
        <p:nvSpPr>
          <p:cNvPr id="4" name="Freeform 4"/>
          <p:cNvSpPr/>
          <p:nvPr/>
        </p:nvSpPr>
        <p:spPr>
          <a:xfrm>
            <a:off x="689081" y="2011486"/>
            <a:ext cx="5414211" cy="4339999"/>
          </a:xfrm>
          <a:custGeom>
            <a:avLst/>
            <a:gdLst/>
            <a:ahLst/>
            <a:cxnLst/>
            <a:rect l="l" t="t" r="r" b="b"/>
            <a:pathLst>
              <a:path w="5414211" h="4339999">
                <a:moveTo>
                  <a:pt x="0" y="0"/>
                </a:moveTo>
                <a:lnTo>
                  <a:pt x="5414211" y="0"/>
                </a:lnTo>
                <a:lnTo>
                  <a:pt x="5414211" y="4339999"/>
                </a:lnTo>
                <a:lnTo>
                  <a:pt x="0" y="4339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8" t="-2015" b="-201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89081" y="2000554"/>
            <a:ext cx="5414211" cy="787103"/>
          </a:xfrm>
          <a:custGeom>
            <a:avLst/>
            <a:gdLst/>
            <a:ahLst/>
            <a:cxnLst/>
            <a:rect l="l" t="t" r="r" b="b"/>
            <a:pathLst>
              <a:path w="5414211" h="787103">
                <a:moveTo>
                  <a:pt x="0" y="0"/>
                </a:moveTo>
                <a:lnTo>
                  <a:pt x="5414211" y="0"/>
                </a:lnTo>
                <a:lnTo>
                  <a:pt x="5414211" y="787103"/>
                </a:lnTo>
                <a:lnTo>
                  <a:pt x="0" y="787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8" t="-972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68156" y="2185953"/>
            <a:ext cx="3157204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759" b="1" spc="-5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Satellite Movement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1195" y="3207067"/>
            <a:ext cx="4902398" cy="39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b="1" spc="-44">
                <a:solidFill>
                  <a:srgbClr val="0F2C4B"/>
                </a:solidFill>
                <a:latin typeface="Inter Medium"/>
                <a:ea typeface="Inter Medium"/>
                <a:cs typeface="Inter Medium"/>
                <a:sym typeface="Inter Medium"/>
              </a:rPr>
              <a:t>Topology refreshed each time step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1195" y="4110898"/>
            <a:ext cx="4902398" cy="34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 b="1" spc="-38">
                <a:solidFill>
                  <a:srgbClr val="0F2C4B"/>
                </a:solidFill>
                <a:latin typeface="Inter Medium"/>
                <a:ea typeface="Inter Medium"/>
                <a:cs typeface="Inter Medium"/>
                <a:sym typeface="Inter Medium"/>
              </a:rPr>
              <a:t>Handover between satellites as they move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1195" y="4889569"/>
            <a:ext cx="3884414" cy="83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1" spc="-45">
                <a:solidFill>
                  <a:srgbClr val="0F2C4B"/>
                </a:solidFill>
                <a:latin typeface="Inter Medium"/>
                <a:ea typeface="Inter Medium"/>
                <a:cs typeface="Inter Medium"/>
                <a:sym typeface="Inter Medium"/>
              </a:rPr>
              <a:t>Predicts link availability windows in advance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31426" y="2011486"/>
            <a:ext cx="5272019" cy="4339999"/>
          </a:xfrm>
          <a:custGeom>
            <a:avLst/>
            <a:gdLst/>
            <a:ahLst/>
            <a:cxnLst/>
            <a:rect l="l" t="t" r="r" b="b"/>
            <a:pathLst>
              <a:path w="5272019" h="4339999">
                <a:moveTo>
                  <a:pt x="0" y="0"/>
                </a:moveTo>
                <a:lnTo>
                  <a:pt x="5272019" y="0"/>
                </a:lnTo>
                <a:lnTo>
                  <a:pt x="5272019" y="4339999"/>
                </a:lnTo>
                <a:lnTo>
                  <a:pt x="0" y="4339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82" t="-2015" r="-1037" b="-201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31426" y="2000554"/>
            <a:ext cx="5272019" cy="787103"/>
          </a:xfrm>
          <a:custGeom>
            <a:avLst/>
            <a:gdLst/>
            <a:ahLst/>
            <a:cxnLst/>
            <a:rect l="l" t="t" r="r" b="b"/>
            <a:pathLst>
              <a:path w="5272019" h="787103">
                <a:moveTo>
                  <a:pt x="0" y="0"/>
                </a:moveTo>
                <a:lnTo>
                  <a:pt x="5272019" y="0"/>
                </a:lnTo>
                <a:lnTo>
                  <a:pt x="5272019" y="787103"/>
                </a:lnTo>
                <a:lnTo>
                  <a:pt x="0" y="7871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82" t="-9722" r="-103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005165" y="2186554"/>
            <a:ext cx="2061571" cy="428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2"/>
              </a:lnSpc>
            </a:pPr>
            <a:r>
              <a:rPr lang="en-US" sz="2818" b="1" spc="-56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Link Failures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04422" y="3207067"/>
            <a:ext cx="4902398" cy="39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b="1" spc="-44">
                <a:solidFill>
                  <a:srgbClr val="0F2C4B"/>
                </a:solidFill>
                <a:latin typeface="Inter Medium"/>
                <a:ea typeface="Inter Medium"/>
                <a:cs typeface="Inter Medium"/>
                <a:sym typeface="Inter Medium"/>
              </a:rPr>
              <a:t>Detect via heartbeat or timeout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4422" y="3970857"/>
            <a:ext cx="3884414" cy="83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1" spc="-45">
                <a:solidFill>
                  <a:srgbClr val="0F2C4B"/>
                </a:solidFill>
                <a:latin typeface="Inter Medium"/>
                <a:ea typeface="Inter Medium"/>
                <a:cs typeface="Inter Medium"/>
                <a:sym typeface="Inter Medium"/>
              </a:rPr>
              <a:t>Instant removal of failed links from graph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04422" y="5190785"/>
            <a:ext cx="4902398" cy="83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1" spc="-45">
                <a:solidFill>
                  <a:srgbClr val="0F2C4B"/>
                </a:solidFill>
                <a:latin typeface="Inter Medium"/>
                <a:ea typeface="Inter Medium"/>
                <a:cs typeface="Inter Medium"/>
                <a:sym typeface="Inter Medium"/>
              </a:rPr>
              <a:t>Reroute through backup paths immediately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031579" y="2011486"/>
            <a:ext cx="5425148" cy="4339999"/>
          </a:xfrm>
          <a:custGeom>
            <a:avLst/>
            <a:gdLst/>
            <a:ahLst/>
            <a:cxnLst/>
            <a:rect l="l" t="t" r="r" b="b"/>
            <a:pathLst>
              <a:path w="5425148" h="4339999">
                <a:moveTo>
                  <a:pt x="0" y="0"/>
                </a:moveTo>
                <a:lnTo>
                  <a:pt x="5425148" y="0"/>
                </a:lnTo>
                <a:lnTo>
                  <a:pt x="5425148" y="4339999"/>
                </a:lnTo>
                <a:lnTo>
                  <a:pt x="0" y="43399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09" t="-2015" r="-3427" b="-2015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031579" y="2000554"/>
            <a:ext cx="5425148" cy="787103"/>
          </a:xfrm>
          <a:custGeom>
            <a:avLst/>
            <a:gdLst/>
            <a:ahLst/>
            <a:cxnLst/>
            <a:rect l="l" t="t" r="r" b="b"/>
            <a:pathLst>
              <a:path w="5425148" h="787103">
                <a:moveTo>
                  <a:pt x="0" y="0"/>
                </a:moveTo>
                <a:lnTo>
                  <a:pt x="5425148" y="0"/>
                </a:lnTo>
                <a:lnTo>
                  <a:pt x="5425148" y="787103"/>
                </a:lnTo>
                <a:lnTo>
                  <a:pt x="0" y="7871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09" t="-9722" r="-3427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060950" y="2185953"/>
            <a:ext cx="3328388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759" b="1" spc="-5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Network Congestion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22969" y="3142511"/>
            <a:ext cx="4902398" cy="837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1" spc="-45">
                <a:solidFill>
                  <a:srgbClr val="0F2C4B"/>
                </a:solidFill>
                <a:latin typeface="Inter Medium"/>
                <a:ea typeface="Inter Medium"/>
                <a:cs typeface="Inter Medium"/>
                <a:sym typeface="Inter Medium"/>
              </a:rPr>
              <a:t>Load-aware edge weights updated dynamically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1589" y="6788764"/>
            <a:ext cx="2165684" cy="2153601"/>
          </a:xfrm>
          <a:custGeom>
            <a:avLst/>
            <a:gdLst/>
            <a:ahLst/>
            <a:cxnLst/>
            <a:rect l="l" t="t" r="r" b="b"/>
            <a:pathLst>
              <a:path w="2165684" h="2153601">
                <a:moveTo>
                  <a:pt x="0" y="0"/>
                </a:moveTo>
                <a:lnTo>
                  <a:pt x="2165684" y="0"/>
                </a:lnTo>
                <a:lnTo>
                  <a:pt x="216568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040" t="-7106" r="-7070" b="-3045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702993" y="7503031"/>
            <a:ext cx="609694" cy="74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7"/>
              </a:lnSpc>
            </a:pPr>
            <a:r>
              <a:rPr lang="en-US" sz="2480" b="1" spc="-49">
                <a:solidFill>
                  <a:srgbClr val="08809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Link</a:t>
            </a:r>
          </a:p>
          <a:p>
            <a:pPr algn="ctr">
              <a:lnSpc>
                <a:spcPts val="2977"/>
              </a:lnSpc>
            </a:pPr>
            <a:r>
              <a:rPr lang="en-US" sz="2480" b="1" spc="-49">
                <a:solidFill>
                  <a:srgbClr val="08809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fails</a:t>
            </a:r>
          </a:p>
        </p:txBody>
      </p:sp>
      <p:sp>
        <p:nvSpPr>
          <p:cNvPr id="22" name="Freeform 22"/>
          <p:cNvSpPr/>
          <p:nvPr/>
        </p:nvSpPr>
        <p:spPr>
          <a:xfrm>
            <a:off x="3303215" y="7619595"/>
            <a:ext cx="929713" cy="382620"/>
          </a:xfrm>
          <a:custGeom>
            <a:avLst/>
            <a:gdLst/>
            <a:ahLst/>
            <a:cxnLst/>
            <a:rect l="l" t="t" r="r" b="b"/>
            <a:pathLst>
              <a:path w="929713" h="382620">
                <a:moveTo>
                  <a:pt x="0" y="0"/>
                </a:moveTo>
                <a:lnTo>
                  <a:pt x="929713" y="0"/>
                </a:lnTo>
                <a:lnTo>
                  <a:pt x="929713" y="382620"/>
                </a:lnTo>
                <a:lnTo>
                  <a:pt x="0" y="382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705" t="-31428" r="-14117" b="-37142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407933" y="6788764"/>
            <a:ext cx="2165684" cy="2142670"/>
          </a:xfrm>
          <a:custGeom>
            <a:avLst/>
            <a:gdLst/>
            <a:ahLst/>
            <a:cxnLst/>
            <a:rect l="l" t="t" r="r" b="b"/>
            <a:pathLst>
              <a:path w="2165684" h="2142670">
                <a:moveTo>
                  <a:pt x="0" y="0"/>
                </a:moveTo>
                <a:lnTo>
                  <a:pt x="2165684" y="0"/>
                </a:lnTo>
                <a:lnTo>
                  <a:pt x="2165684" y="2142670"/>
                </a:lnTo>
                <a:lnTo>
                  <a:pt x="0" y="2142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525" t="-7142" r="-8585" b="-3571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4856213" y="7538728"/>
            <a:ext cx="1259838" cy="67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1"/>
              </a:lnSpc>
            </a:pPr>
            <a:r>
              <a:rPr lang="en-US" sz="2325" b="1" spc="-46">
                <a:solidFill>
                  <a:srgbClr val="08809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Failure detected</a:t>
            </a:r>
          </a:p>
        </p:txBody>
      </p:sp>
      <p:sp>
        <p:nvSpPr>
          <p:cNvPr id="25" name="Freeform 25"/>
          <p:cNvSpPr/>
          <p:nvPr/>
        </p:nvSpPr>
        <p:spPr>
          <a:xfrm>
            <a:off x="6759560" y="7619595"/>
            <a:ext cx="929713" cy="382620"/>
          </a:xfrm>
          <a:custGeom>
            <a:avLst/>
            <a:gdLst/>
            <a:ahLst/>
            <a:cxnLst/>
            <a:rect l="l" t="t" r="r" b="b"/>
            <a:pathLst>
              <a:path w="929713" h="382620">
                <a:moveTo>
                  <a:pt x="0" y="0"/>
                </a:moveTo>
                <a:lnTo>
                  <a:pt x="929713" y="0"/>
                </a:lnTo>
                <a:lnTo>
                  <a:pt x="929713" y="382620"/>
                </a:lnTo>
                <a:lnTo>
                  <a:pt x="0" y="382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176" t="-31428" r="-16470" b="-37142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864278" y="6788764"/>
            <a:ext cx="2154746" cy="2142670"/>
          </a:xfrm>
          <a:custGeom>
            <a:avLst/>
            <a:gdLst/>
            <a:ahLst/>
            <a:cxnLst/>
            <a:rect l="l" t="t" r="r" b="b"/>
            <a:pathLst>
              <a:path w="2154746" h="2142670">
                <a:moveTo>
                  <a:pt x="0" y="0"/>
                </a:moveTo>
                <a:lnTo>
                  <a:pt x="2154746" y="0"/>
                </a:lnTo>
                <a:lnTo>
                  <a:pt x="2154746" y="2142670"/>
                </a:lnTo>
                <a:lnTo>
                  <a:pt x="0" y="21426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522" t="-7142" b="-3571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339268" y="7511355"/>
            <a:ext cx="1175838" cy="7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428" b="1" spc="-48">
                <a:solidFill>
                  <a:srgbClr val="08809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Graph</a:t>
            </a:r>
          </a:p>
          <a:p>
            <a:pPr algn="ctr">
              <a:lnSpc>
                <a:spcPts val="2915"/>
              </a:lnSpc>
            </a:pPr>
            <a:r>
              <a:rPr lang="en-US" sz="2428" b="1" spc="-48">
                <a:solidFill>
                  <a:srgbClr val="08809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updated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226842" y="7630527"/>
            <a:ext cx="918775" cy="371688"/>
          </a:xfrm>
          <a:custGeom>
            <a:avLst/>
            <a:gdLst/>
            <a:ahLst/>
            <a:cxnLst/>
            <a:rect l="l" t="t" r="r" b="b"/>
            <a:pathLst>
              <a:path w="918775" h="371688">
                <a:moveTo>
                  <a:pt x="0" y="0"/>
                </a:moveTo>
                <a:lnTo>
                  <a:pt x="918775" y="0"/>
                </a:lnTo>
                <a:lnTo>
                  <a:pt x="918775" y="371688"/>
                </a:lnTo>
                <a:lnTo>
                  <a:pt x="0" y="371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3809" t="-35294" r="-20238" b="-38235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342498" y="6788764"/>
            <a:ext cx="2154746" cy="2153601"/>
          </a:xfrm>
          <a:custGeom>
            <a:avLst/>
            <a:gdLst/>
            <a:ahLst/>
            <a:cxnLst/>
            <a:rect l="l" t="t" r="r" b="b"/>
            <a:pathLst>
              <a:path w="2154746" h="2153601">
                <a:moveTo>
                  <a:pt x="0" y="0"/>
                </a:moveTo>
                <a:lnTo>
                  <a:pt x="2154746" y="0"/>
                </a:lnTo>
                <a:lnTo>
                  <a:pt x="215474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015" t="-7106" r="-507" b="-3045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1659465" y="7511355"/>
            <a:ext cx="1472204" cy="7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428" b="1" spc="-48">
                <a:solidFill>
                  <a:srgbClr val="08809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New route computed</a:t>
            </a:r>
          </a:p>
        </p:txBody>
      </p:sp>
      <p:sp>
        <p:nvSpPr>
          <p:cNvPr id="31" name="Freeform 31"/>
          <p:cNvSpPr/>
          <p:nvPr/>
        </p:nvSpPr>
        <p:spPr>
          <a:xfrm>
            <a:off x="13726938" y="7619595"/>
            <a:ext cx="940651" cy="382620"/>
          </a:xfrm>
          <a:custGeom>
            <a:avLst/>
            <a:gdLst/>
            <a:ahLst/>
            <a:cxnLst/>
            <a:rect l="l" t="t" r="r" b="b"/>
            <a:pathLst>
              <a:path w="940651" h="382620">
                <a:moveTo>
                  <a:pt x="0" y="0"/>
                </a:moveTo>
                <a:lnTo>
                  <a:pt x="940651" y="0"/>
                </a:lnTo>
                <a:lnTo>
                  <a:pt x="940651" y="382620"/>
                </a:lnTo>
                <a:lnTo>
                  <a:pt x="0" y="3826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162" t="-31428" r="-15116" b="-37142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962909" y="6788764"/>
            <a:ext cx="2143809" cy="2142670"/>
          </a:xfrm>
          <a:custGeom>
            <a:avLst/>
            <a:gdLst/>
            <a:ahLst/>
            <a:cxnLst/>
            <a:rect l="l" t="t" r="r" b="b"/>
            <a:pathLst>
              <a:path w="2143809" h="2142670">
                <a:moveTo>
                  <a:pt x="0" y="0"/>
                </a:moveTo>
                <a:lnTo>
                  <a:pt x="2143809" y="0"/>
                </a:lnTo>
                <a:lnTo>
                  <a:pt x="2143809" y="2142670"/>
                </a:lnTo>
                <a:lnTo>
                  <a:pt x="0" y="2142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7653" t="-7142" r="-4591" b="-3571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5358707" y="7538728"/>
            <a:ext cx="1311054" cy="67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1"/>
              </a:lnSpc>
            </a:pPr>
            <a:r>
              <a:rPr lang="en-US" sz="2325" b="1" spc="-46">
                <a:solidFill>
                  <a:srgbClr val="E4721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</a:t>
            </a:r>
          </a:p>
          <a:p>
            <a:pPr algn="ctr">
              <a:lnSpc>
                <a:spcPts val="2791"/>
              </a:lnSpc>
            </a:pPr>
            <a:r>
              <a:rPr lang="en-US" sz="2325" b="1" spc="-46">
                <a:solidFill>
                  <a:srgbClr val="E4721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delivered</a:t>
            </a:r>
          </a:p>
        </p:txBody>
      </p:sp>
      <p:sp>
        <p:nvSpPr>
          <p:cNvPr id="34" name="Freeform 34"/>
          <p:cNvSpPr/>
          <p:nvPr/>
        </p:nvSpPr>
        <p:spPr>
          <a:xfrm>
            <a:off x="689081" y="9357781"/>
            <a:ext cx="16756708" cy="65592"/>
          </a:xfrm>
          <a:custGeom>
            <a:avLst/>
            <a:gdLst/>
            <a:ahLst/>
            <a:cxnLst/>
            <a:rect l="l" t="t" r="r" b="b"/>
            <a:pathLst>
              <a:path w="16756708" h="65592">
                <a:moveTo>
                  <a:pt x="0" y="0"/>
                </a:moveTo>
                <a:lnTo>
                  <a:pt x="16756708" y="0"/>
                </a:lnTo>
                <a:lnTo>
                  <a:pt x="16756708" y="65592"/>
                </a:lnTo>
                <a:lnTo>
                  <a:pt x="0" y="6559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61" t="-233333" r="-1174" b="-16666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870364" y="9215665"/>
            <a:ext cx="339072" cy="349824"/>
          </a:xfrm>
          <a:custGeom>
            <a:avLst/>
            <a:gdLst/>
            <a:ahLst/>
            <a:cxnLst/>
            <a:rect l="l" t="t" r="r" b="b"/>
            <a:pathLst>
              <a:path w="339072" h="349824">
                <a:moveTo>
                  <a:pt x="0" y="0"/>
                </a:moveTo>
                <a:lnTo>
                  <a:pt x="339071" y="0"/>
                </a:lnTo>
                <a:lnTo>
                  <a:pt x="339071" y="349824"/>
                </a:lnTo>
                <a:lnTo>
                  <a:pt x="0" y="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38709" t="-3125" r="-54838" b="-25000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315770" y="9215665"/>
            <a:ext cx="350010" cy="338892"/>
          </a:xfrm>
          <a:custGeom>
            <a:avLst/>
            <a:gdLst/>
            <a:ahLst/>
            <a:cxnLst/>
            <a:rect l="l" t="t" r="r" b="b"/>
            <a:pathLst>
              <a:path w="350010" h="338892">
                <a:moveTo>
                  <a:pt x="0" y="0"/>
                </a:moveTo>
                <a:lnTo>
                  <a:pt x="350010" y="0"/>
                </a:lnTo>
                <a:lnTo>
                  <a:pt x="350010" y="338892"/>
                </a:lnTo>
                <a:lnTo>
                  <a:pt x="0" y="33889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28125" t="-3225" b="-29032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8783053" y="9215665"/>
            <a:ext cx="350010" cy="338892"/>
          </a:xfrm>
          <a:custGeom>
            <a:avLst/>
            <a:gdLst/>
            <a:ahLst/>
            <a:cxnLst/>
            <a:rect l="l" t="t" r="r" b="b"/>
            <a:pathLst>
              <a:path w="350010" h="338892">
                <a:moveTo>
                  <a:pt x="0" y="0"/>
                </a:moveTo>
                <a:lnTo>
                  <a:pt x="350009" y="0"/>
                </a:lnTo>
                <a:lnTo>
                  <a:pt x="350009" y="338892"/>
                </a:lnTo>
                <a:lnTo>
                  <a:pt x="0" y="33889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21874" t="-3225" r="-3124" b="-29032"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2239397" y="9215665"/>
            <a:ext cx="371885" cy="338892"/>
          </a:xfrm>
          <a:custGeom>
            <a:avLst/>
            <a:gdLst/>
            <a:ahLst/>
            <a:cxnLst/>
            <a:rect l="l" t="t" r="r" b="b"/>
            <a:pathLst>
              <a:path w="371885" h="338892">
                <a:moveTo>
                  <a:pt x="0" y="0"/>
                </a:moveTo>
                <a:lnTo>
                  <a:pt x="371885" y="0"/>
                </a:lnTo>
                <a:lnTo>
                  <a:pt x="371885" y="338892"/>
                </a:lnTo>
                <a:lnTo>
                  <a:pt x="0" y="33889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4705" t="-3225" r="-5882" b="-29032"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5870746" y="9215665"/>
            <a:ext cx="339072" cy="338892"/>
          </a:xfrm>
          <a:custGeom>
            <a:avLst/>
            <a:gdLst/>
            <a:ahLst/>
            <a:cxnLst/>
            <a:rect l="l" t="t" r="r" b="b"/>
            <a:pathLst>
              <a:path w="339072" h="338892">
                <a:moveTo>
                  <a:pt x="0" y="0"/>
                </a:moveTo>
                <a:lnTo>
                  <a:pt x="339072" y="0"/>
                </a:lnTo>
                <a:lnTo>
                  <a:pt x="339072" y="338892"/>
                </a:lnTo>
                <a:lnTo>
                  <a:pt x="0" y="33889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58064" t="-3225" r="-35483" b="-29032"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2322969" y="4365686"/>
            <a:ext cx="4902398" cy="36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1" spc="-40">
                <a:solidFill>
                  <a:srgbClr val="0F2C4B"/>
                </a:solidFill>
                <a:latin typeface="Inter Medium"/>
                <a:ea typeface="Inter Medium"/>
                <a:cs typeface="Inter Medium"/>
                <a:sym typeface="Inter Medium"/>
              </a:rPr>
              <a:t>Traffic splitting to avoid overloaded links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322969" y="5195098"/>
            <a:ext cx="4902398" cy="39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b="1" spc="-44">
                <a:solidFill>
                  <a:srgbClr val="0F2C4B"/>
                </a:solidFill>
                <a:latin typeface="Inter Medium"/>
                <a:ea typeface="Inter Medium"/>
                <a:cs typeface="Inter Medium"/>
                <a:sym typeface="Inter Medium"/>
              </a:rPr>
              <a:t>Adaptive rerouting to balance 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26574" y="2372241"/>
            <a:ext cx="12862852" cy="7226044"/>
          </a:xfrm>
          <a:custGeom>
            <a:avLst/>
            <a:gdLst/>
            <a:ahLst/>
            <a:cxnLst/>
            <a:rect l="l" t="t" r="r" b="b"/>
            <a:pathLst>
              <a:path w="12862852" h="7226044">
                <a:moveTo>
                  <a:pt x="0" y="0"/>
                </a:moveTo>
                <a:lnTo>
                  <a:pt x="12862852" y="0"/>
                </a:lnTo>
                <a:lnTo>
                  <a:pt x="12862852" y="7226044"/>
                </a:lnTo>
                <a:lnTo>
                  <a:pt x="0" y="7226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2" b="-75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2625" y="577831"/>
            <a:ext cx="12031282" cy="838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619" b="1">
                <a:solidFill>
                  <a:srgbClr val="0F1F44"/>
                </a:solidFill>
                <a:latin typeface="Inter Bold"/>
                <a:ea typeface="Inter Bold"/>
                <a:cs typeface="Inter Bold"/>
                <a:sym typeface="Inter Bold"/>
              </a:rPr>
              <a:t>Simulator Features and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406" y="1653888"/>
            <a:ext cx="12653188" cy="383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8"/>
              </a:lnSpc>
            </a:pPr>
            <a:r>
              <a:rPr lang="en-US" sz="2581" b="1">
                <a:solidFill>
                  <a:srgbClr val="16A2B4"/>
                </a:solidFill>
                <a:latin typeface="Inter Bold"/>
                <a:ea typeface="Inter Bold"/>
                <a:cs typeface="Inter Bold"/>
                <a:sym typeface="Inter Bold"/>
              </a:rPr>
              <a:t>Explore the network. Control the simulation. Measure performance in real time.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1706" y="2578136"/>
            <a:ext cx="1159881" cy="1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lang="en-US" sz="1321" b="1">
                <a:solidFill>
                  <a:srgbClr val="16A2B4"/>
                </a:solidFill>
                <a:latin typeface="Inter Bold"/>
                <a:ea typeface="Inter Bold"/>
                <a:cs typeface="Inter Bold"/>
                <a:sym typeface="Inter Bold"/>
              </a:rPr>
              <a:t>Network 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23661" y="2539769"/>
            <a:ext cx="698772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>
                    <a:alpha val="4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Controls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71864" y="2539769"/>
            <a:ext cx="1071407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>
                    <a:alpha val="4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Performance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05527" y="2539769"/>
            <a:ext cx="402767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>
                    <a:alpha val="4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Logs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244057" y="2612745"/>
            <a:ext cx="142191" cy="142116"/>
          </a:xfrm>
          <a:custGeom>
            <a:avLst/>
            <a:gdLst/>
            <a:ahLst/>
            <a:cxnLst/>
            <a:rect l="l" t="t" r="r" b="b"/>
            <a:pathLst>
              <a:path w="142191" h="142116">
                <a:moveTo>
                  <a:pt x="0" y="0"/>
                </a:moveTo>
                <a:lnTo>
                  <a:pt x="142192" y="0"/>
                </a:lnTo>
                <a:lnTo>
                  <a:pt x="142192" y="142116"/>
                </a:lnTo>
                <a:lnTo>
                  <a:pt x="0" y="142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000" t="-30769" r="-107692" b="-2307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449878" y="2539769"/>
            <a:ext cx="1584037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>
                    <a:alpha val="4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Simulation Running</a:t>
            </a:r>
          </a:p>
        </p:txBody>
      </p:sp>
      <p:sp>
        <p:nvSpPr>
          <p:cNvPr id="12" name="Freeform 12"/>
          <p:cNvSpPr/>
          <p:nvPr/>
        </p:nvSpPr>
        <p:spPr>
          <a:xfrm>
            <a:off x="601579" y="2962569"/>
            <a:ext cx="8498670" cy="5837681"/>
          </a:xfrm>
          <a:custGeom>
            <a:avLst/>
            <a:gdLst/>
            <a:ahLst/>
            <a:cxnLst/>
            <a:rect l="l" t="t" r="r" b="b"/>
            <a:pathLst>
              <a:path w="8498670" h="5837681">
                <a:moveTo>
                  <a:pt x="0" y="0"/>
                </a:moveTo>
                <a:lnTo>
                  <a:pt x="8498670" y="0"/>
                </a:lnTo>
                <a:lnTo>
                  <a:pt x="8498670" y="5837681"/>
                </a:lnTo>
                <a:lnTo>
                  <a:pt x="0" y="5837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9" t="-3183" r="-514" b="-3558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12517" y="2918841"/>
            <a:ext cx="1400038" cy="65592"/>
          </a:xfrm>
          <a:custGeom>
            <a:avLst/>
            <a:gdLst/>
            <a:ahLst/>
            <a:cxnLst/>
            <a:rect l="l" t="t" r="r" b="b"/>
            <a:pathLst>
              <a:path w="1400038" h="65592">
                <a:moveTo>
                  <a:pt x="0" y="0"/>
                </a:moveTo>
                <a:lnTo>
                  <a:pt x="1400038" y="0"/>
                </a:lnTo>
                <a:lnTo>
                  <a:pt x="1400038" y="65592"/>
                </a:lnTo>
                <a:lnTo>
                  <a:pt x="0" y="655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281" t="-216666" r="-12499" b="-33333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89100" y="3662216"/>
            <a:ext cx="470325" cy="415416"/>
          </a:xfrm>
          <a:custGeom>
            <a:avLst/>
            <a:gdLst/>
            <a:ahLst/>
            <a:cxnLst/>
            <a:rect l="l" t="t" r="r" b="b"/>
            <a:pathLst>
              <a:path w="470325" h="415416">
                <a:moveTo>
                  <a:pt x="0" y="0"/>
                </a:moveTo>
                <a:lnTo>
                  <a:pt x="470326" y="0"/>
                </a:lnTo>
                <a:lnTo>
                  <a:pt x="470326" y="415415"/>
                </a:lnTo>
                <a:lnTo>
                  <a:pt x="0" y="4154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604" t="-5263" r="-23255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561062" y="3377984"/>
            <a:ext cx="448450" cy="415416"/>
          </a:xfrm>
          <a:custGeom>
            <a:avLst/>
            <a:gdLst/>
            <a:ahLst/>
            <a:cxnLst/>
            <a:rect l="l" t="t" r="r" b="b"/>
            <a:pathLst>
              <a:path w="448450" h="415416">
                <a:moveTo>
                  <a:pt x="0" y="0"/>
                </a:moveTo>
                <a:lnTo>
                  <a:pt x="448450" y="0"/>
                </a:lnTo>
                <a:lnTo>
                  <a:pt x="448450" y="415416"/>
                </a:lnTo>
                <a:lnTo>
                  <a:pt x="0" y="4154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6341" t="-39473" b="-1578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404890" y="3377984"/>
            <a:ext cx="492201" cy="415416"/>
          </a:xfrm>
          <a:custGeom>
            <a:avLst/>
            <a:gdLst/>
            <a:ahLst/>
            <a:cxnLst/>
            <a:rect l="l" t="t" r="r" b="b"/>
            <a:pathLst>
              <a:path w="492201" h="415416">
                <a:moveTo>
                  <a:pt x="0" y="0"/>
                </a:moveTo>
                <a:lnTo>
                  <a:pt x="492201" y="0"/>
                </a:lnTo>
                <a:lnTo>
                  <a:pt x="492201" y="415416"/>
                </a:lnTo>
                <a:lnTo>
                  <a:pt x="0" y="4154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222" t="-39473" r="-33333" b="-15789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95340" y="5881409"/>
            <a:ext cx="503139" cy="415416"/>
          </a:xfrm>
          <a:custGeom>
            <a:avLst/>
            <a:gdLst/>
            <a:ahLst/>
            <a:cxnLst/>
            <a:rect l="l" t="t" r="r" b="b"/>
            <a:pathLst>
              <a:path w="503139" h="415416">
                <a:moveTo>
                  <a:pt x="0" y="0"/>
                </a:moveTo>
                <a:lnTo>
                  <a:pt x="503138" y="0"/>
                </a:lnTo>
                <a:lnTo>
                  <a:pt x="503138" y="415416"/>
                </a:lnTo>
                <a:lnTo>
                  <a:pt x="0" y="415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6086" t="-23684" r="-6521" b="-34210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209435" y="4788210"/>
            <a:ext cx="262507" cy="382620"/>
          </a:xfrm>
          <a:custGeom>
            <a:avLst/>
            <a:gdLst/>
            <a:ahLst/>
            <a:cxnLst/>
            <a:rect l="l" t="t" r="r" b="b"/>
            <a:pathLst>
              <a:path w="262507" h="382620">
                <a:moveTo>
                  <a:pt x="0" y="0"/>
                </a:moveTo>
                <a:lnTo>
                  <a:pt x="262508" y="0"/>
                </a:lnTo>
                <a:lnTo>
                  <a:pt x="262508" y="382620"/>
                </a:lnTo>
                <a:lnTo>
                  <a:pt x="0" y="3826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2500" t="-20000" r="-54166" b="-51428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303215" y="6613852"/>
            <a:ext cx="273445" cy="437279"/>
          </a:xfrm>
          <a:custGeom>
            <a:avLst/>
            <a:gdLst/>
            <a:ahLst/>
            <a:cxnLst/>
            <a:rect l="l" t="t" r="r" b="b"/>
            <a:pathLst>
              <a:path w="273445" h="437279">
                <a:moveTo>
                  <a:pt x="0" y="0"/>
                </a:moveTo>
                <a:lnTo>
                  <a:pt x="273445" y="0"/>
                </a:lnTo>
                <a:lnTo>
                  <a:pt x="273445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5999" t="-42500" r="-47999" b="-5000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457962" y="6799696"/>
            <a:ext cx="273445" cy="393552"/>
          </a:xfrm>
          <a:custGeom>
            <a:avLst/>
            <a:gdLst/>
            <a:ahLst/>
            <a:cxnLst/>
            <a:rect l="l" t="t" r="r" b="b"/>
            <a:pathLst>
              <a:path w="273445" h="393552">
                <a:moveTo>
                  <a:pt x="0" y="0"/>
                </a:moveTo>
                <a:lnTo>
                  <a:pt x="273445" y="0"/>
                </a:lnTo>
                <a:lnTo>
                  <a:pt x="273445" y="393552"/>
                </a:lnTo>
                <a:lnTo>
                  <a:pt x="0" y="3935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000" t="-41666" r="-56000" b="-24999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128211" y="7685187"/>
            <a:ext cx="492201" cy="426348"/>
          </a:xfrm>
          <a:custGeom>
            <a:avLst/>
            <a:gdLst/>
            <a:ahLst/>
            <a:cxnLst/>
            <a:rect l="l" t="t" r="r" b="b"/>
            <a:pathLst>
              <a:path w="492201" h="426348">
                <a:moveTo>
                  <a:pt x="0" y="0"/>
                </a:moveTo>
                <a:lnTo>
                  <a:pt x="492200" y="0"/>
                </a:lnTo>
                <a:lnTo>
                  <a:pt x="492200" y="426348"/>
                </a:lnTo>
                <a:lnTo>
                  <a:pt x="0" y="42634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7777" t="-43589" r="-17777" b="-7692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962718" y="4755414"/>
            <a:ext cx="459388" cy="415416"/>
          </a:xfrm>
          <a:custGeom>
            <a:avLst/>
            <a:gdLst/>
            <a:ahLst/>
            <a:cxnLst/>
            <a:rect l="l" t="t" r="r" b="b"/>
            <a:pathLst>
              <a:path w="459388" h="415416">
                <a:moveTo>
                  <a:pt x="0" y="0"/>
                </a:moveTo>
                <a:lnTo>
                  <a:pt x="459387" y="0"/>
                </a:lnTo>
                <a:lnTo>
                  <a:pt x="459387" y="415416"/>
                </a:lnTo>
                <a:lnTo>
                  <a:pt x="0" y="4154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8571" t="-10526" r="-16666" b="-47368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923627" y="7696119"/>
            <a:ext cx="481263" cy="426348"/>
          </a:xfrm>
          <a:custGeom>
            <a:avLst/>
            <a:gdLst/>
            <a:ahLst/>
            <a:cxnLst/>
            <a:rect l="l" t="t" r="r" b="b"/>
            <a:pathLst>
              <a:path w="481263" h="426348">
                <a:moveTo>
                  <a:pt x="0" y="0"/>
                </a:moveTo>
                <a:lnTo>
                  <a:pt x="481263" y="0"/>
                </a:lnTo>
                <a:lnTo>
                  <a:pt x="481263" y="426348"/>
                </a:lnTo>
                <a:lnTo>
                  <a:pt x="0" y="42634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6363" t="-46153" b="-5128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017407" y="6930880"/>
            <a:ext cx="240632" cy="382620"/>
          </a:xfrm>
          <a:custGeom>
            <a:avLst/>
            <a:gdLst/>
            <a:ahLst/>
            <a:cxnLst/>
            <a:rect l="l" t="t" r="r" b="b"/>
            <a:pathLst>
              <a:path w="240632" h="382620">
                <a:moveTo>
                  <a:pt x="0" y="0"/>
                </a:moveTo>
                <a:lnTo>
                  <a:pt x="240631" y="0"/>
                </a:lnTo>
                <a:lnTo>
                  <a:pt x="240631" y="382619"/>
                </a:lnTo>
                <a:lnTo>
                  <a:pt x="0" y="3826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77272" t="-20000" r="-9090" b="-51428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579703" y="8876774"/>
            <a:ext cx="8542421" cy="601259"/>
          </a:xfrm>
          <a:custGeom>
            <a:avLst/>
            <a:gdLst/>
            <a:ahLst/>
            <a:cxnLst/>
            <a:rect l="l" t="t" r="r" b="b"/>
            <a:pathLst>
              <a:path w="8542421" h="601259">
                <a:moveTo>
                  <a:pt x="0" y="0"/>
                </a:moveTo>
                <a:lnTo>
                  <a:pt x="8542421" y="0"/>
                </a:lnTo>
                <a:lnTo>
                  <a:pt x="8542421" y="601259"/>
                </a:lnTo>
                <a:lnTo>
                  <a:pt x="0" y="6012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792" t="-16363" r="-256" b="-29090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09397" y="9182869"/>
            <a:ext cx="284383" cy="32796"/>
          </a:xfrm>
          <a:custGeom>
            <a:avLst/>
            <a:gdLst/>
            <a:ahLst/>
            <a:cxnLst/>
            <a:rect l="l" t="t" r="r" b="b"/>
            <a:pathLst>
              <a:path w="284383" h="32796">
                <a:moveTo>
                  <a:pt x="0" y="0"/>
                </a:moveTo>
                <a:lnTo>
                  <a:pt x="284383" y="0"/>
                </a:lnTo>
                <a:lnTo>
                  <a:pt x="284383" y="32796"/>
                </a:lnTo>
                <a:lnTo>
                  <a:pt x="0" y="3279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57692" t="-566666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2701636" y="9182869"/>
            <a:ext cx="306258" cy="32796"/>
          </a:xfrm>
          <a:custGeom>
            <a:avLst/>
            <a:gdLst/>
            <a:ahLst/>
            <a:cxnLst/>
            <a:rect l="l" t="t" r="r" b="b"/>
            <a:pathLst>
              <a:path w="306258" h="32796">
                <a:moveTo>
                  <a:pt x="0" y="0"/>
                </a:moveTo>
                <a:lnTo>
                  <a:pt x="306259" y="0"/>
                </a:lnTo>
                <a:lnTo>
                  <a:pt x="306259" y="32796"/>
                </a:lnTo>
                <a:lnTo>
                  <a:pt x="0" y="327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32142" t="-566666" r="-14285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4867321" y="9062617"/>
            <a:ext cx="295321" cy="284232"/>
          </a:xfrm>
          <a:custGeom>
            <a:avLst/>
            <a:gdLst/>
            <a:ahLst/>
            <a:cxnLst/>
            <a:rect l="l" t="t" r="r" b="b"/>
            <a:pathLst>
              <a:path w="295321" h="284232">
                <a:moveTo>
                  <a:pt x="0" y="0"/>
                </a:moveTo>
                <a:lnTo>
                  <a:pt x="295320" y="0"/>
                </a:lnTo>
                <a:lnTo>
                  <a:pt x="295320" y="284232"/>
                </a:lnTo>
                <a:lnTo>
                  <a:pt x="0" y="2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29629" t="-23076" r="-22222" b="-30769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431426" y="9051685"/>
            <a:ext cx="196880" cy="295164"/>
          </a:xfrm>
          <a:custGeom>
            <a:avLst/>
            <a:gdLst/>
            <a:ahLst/>
            <a:cxnLst/>
            <a:rect l="l" t="t" r="r" b="b"/>
            <a:pathLst>
              <a:path w="196880" h="295164">
                <a:moveTo>
                  <a:pt x="0" y="0"/>
                </a:moveTo>
                <a:lnTo>
                  <a:pt x="196880" y="0"/>
                </a:lnTo>
                <a:lnTo>
                  <a:pt x="196880" y="295164"/>
                </a:lnTo>
                <a:lnTo>
                  <a:pt x="0" y="29516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61111" t="-18518" r="-66666" b="-29629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253378" y="2962569"/>
            <a:ext cx="3871981" cy="5826749"/>
          </a:xfrm>
          <a:custGeom>
            <a:avLst/>
            <a:gdLst/>
            <a:ahLst/>
            <a:cxnLst/>
            <a:rect l="l" t="t" r="r" b="b"/>
            <a:pathLst>
              <a:path w="3871981" h="5826749">
                <a:moveTo>
                  <a:pt x="0" y="0"/>
                </a:moveTo>
                <a:lnTo>
                  <a:pt x="3871981" y="0"/>
                </a:lnTo>
                <a:lnTo>
                  <a:pt x="3871981" y="5826749"/>
                </a:lnTo>
                <a:lnTo>
                  <a:pt x="0" y="582674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2824" t="-3189" r="-4237" b="-3752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336220" y="4121359"/>
            <a:ext cx="2537569" cy="251436"/>
          </a:xfrm>
          <a:custGeom>
            <a:avLst/>
            <a:gdLst/>
            <a:ahLst/>
            <a:cxnLst/>
            <a:rect l="l" t="t" r="r" b="b"/>
            <a:pathLst>
              <a:path w="2537569" h="251436">
                <a:moveTo>
                  <a:pt x="0" y="0"/>
                </a:moveTo>
                <a:lnTo>
                  <a:pt x="2537569" y="0"/>
                </a:lnTo>
                <a:lnTo>
                  <a:pt x="2537569" y="251436"/>
                </a:lnTo>
                <a:lnTo>
                  <a:pt x="0" y="25143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38793" t="-21739" r="-7758" b="-52173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9520312" y="4714280"/>
            <a:ext cx="1659474" cy="24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sz="1335" b="1" spc="-2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Packet Delivery Ratio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347158" y="5192694"/>
            <a:ext cx="2526632" cy="240504"/>
          </a:xfrm>
          <a:custGeom>
            <a:avLst/>
            <a:gdLst/>
            <a:ahLst/>
            <a:cxnLst/>
            <a:rect l="l" t="t" r="r" b="b"/>
            <a:pathLst>
              <a:path w="2526632" h="240504">
                <a:moveTo>
                  <a:pt x="0" y="0"/>
                </a:moveTo>
                <a:lnTo>
                  <a:pt x="2526631" y="0"/>
                </a:lnTo>
                <a:lnTo>
                  <a:pt x="2526631" y="240504"/>
                </a:lnTo>
                <a:lnTo>
                  <a:pt x="0" y="24050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39393" t="-22727" r="-7792" b="-59090"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9520311" y="5777877"/>
            <a:ext cx="1659535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Reroutes Performed</a:t>
            </a:r>
          </a:p>
        </p:txBody>
      </p:sp>
      <p:sp>
        <p:nvSpPr>
          <p:cNvPr id="35" name="Freeform 35"/>
          <p:cNvSpPr/>
          <p:nvPr/>
        </p:nvSpPr>
        <p:spPr>
          <a:xfrm>
            <a:off x="9570574" y="6209369"/>
            <a:ext cx="3292278" cy="284232"/>
          </a:xfrm>
          <a:custGeom>
            <a:avLst/>
            <a:gdLst/>
            <a:ahLst/>
            <a:cxnLst/>
            <a:rect l="l" t="t" r="r" b="b"/>
            <a:pathLst>
              <a:path w="3292278" h="284232">
                <a:moveTo>
                  <a:pt x="0" y="0"/>
                </a:moveTo>
                <a:lnTo>
                  <a:pt x="3292278" y="0"/>
                </a:lnTo>
                <a:lnTo>
                  <a:pt x="3292278" y="284231"/>
                </a:lnTo>
                <a:lnTo>
                  <a:pt x="0" y="2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6644" t="-76923" r="-6312" b="-53846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9527131" y="6817048"/>
            <a:ext cx="977535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Link Uptime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15885" y="7291635"/>
            <a:ext cx="3368842" cy="262368"/>
          </a:xfrm>
          <a:custGeom>
            <a:avLst/>
            <a:gdLst/>
            <a:ahLst/>
            <a:cxnLst/>
            <a:rect l="l" t="t" r="r" b="b"/>
            <a:pathLst>
              <a:path w="3368842" h="262368">
                <a:moveTo>
                  <a:pt x="0" y="0"/>
                </a:moveTo>
                <a:lnTo>
                  <a:pt x="3368842" y="0"/>
                </a:lnTo>
                <a:lnTo>
                  <a:pt x="3368842" y="262368"/>
                </a:lnTo>
                <a:lnTo>
                  <a:pt x="0" y="26236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4870" t="-4166" r="-5519" b="-62499"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520302" y="7871481"/>
            <a:ext cx="1660388" cy="236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353" b="1" spc="-2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Network Throughput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52672" y="7843293"/>
            <a:ext cx="1487737" cy="37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34"/>
              </a:lnSpc>
            </a:pPr>
            <a:r>
              <a:rPr lang="en-US" sz="2528" b="1" spc="-50">
                <a:solidFill>
                  <a:srgbClr val="D88531"/>
                </a:solidFill>
                <a:latin typeface="Inter Bold"/>
                <a:ea typeface="Inter Bold"/>
                <a:cs typeface="Inter Bold"/>
                <a:sym typeface="Inter Bold"/>
              </a:rPr>
              <a:t>1.26 Gbps</a:t>
            </a:r>
          </a:p>
        </p:txBody>
      </p:sp>
      <p:sp>
        <p:nvSpPr>
          <p:cNvPr id="40" name="Freeform 40"/>
          <p:cNvSpPr/>
          <p:nvPr/>
        </p:nvSpPr>
        <p:spPr>
          <a:xfrm>
            <a:off x="9515885" y="8352038"/>
            <a:ext cx="3346967" cy="273300"/>
          </a:xfrm>
          <a:custGeom>
            <a:avLst/>
            <a:gdLst/>
            <a:ahLst/>
            <a:cxnLst/>
            <a:rect l="l" t="t" r="r" b="b"/>
            <a:pathLst>
              <a:path w="3346967" h="273300">
                <a:moveTo>
                  <a:pt x="0" y="0"/>
                </a:moveTo>
                <a:lnTo>
                  <a:pt x="3346967" y="0"/>
                </a:lnTo>
                <a:lnTo>
                  <a:pt x="3346967" y="273300"/>
                </a:lnTo>
                <a:lnTo>
                  <a:pt x="0" y="2733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4901" r="-6209" b="-59999"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9176813" y="8778386"/>
            <a:ext cx="3970421" cy="710579"/>
          </a:xfrm>
          <a:custGeom>
            <a:avLst/>
            <a:gdLst/>
            <a:ahLst/>
            <a:cxnLst/>
            <a:rect l="l" t="t" r="r" b="b"/>
            <a:pathLst>
              <a:path w="3970421" h="710579">
                <a:moveTo>
                  <a:pt x="0" y="0"/>
                </a:moveTo>
                <a:lnTo>
                  <a:pt x="3970421" y="0"/>
                </a:lnTo>
                <a:lnTo>
                  <a:pt x="3970421" y="710579"/>
                </a:lnTo>
                <a:lnTo>
                  <a:pt x="0" y="71057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826" r="-3581" b="-23076"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9504947" y="9128209"/>
            <a:ext cx="142191" cy="142116"/>
          </a:xfrm>
          <a:custGeom>
            <a:avLst/>
            <a:gdLst/>
            <a:ahLst/>
            <a:cxnLst/>
            <a:rect l="l" t="t" r="r" b="b"/>
            <a:pathLst>
              <a:path w="142191" h="142116">
                <a:moveTo>
                  <a:pt x="0" y="0"/>
                </a:moveTo>
                <a:lnTo>
                  <a:pt x="142192" y="0"/>
                </a:lnTo>
                <a:lnTo>
                  <a:pt x="142192" y="142116"/>
                </a:lnTo>
                <a:lnTo>
                  <a:pt x="0" y="14211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107692" t="-92307" r="-107692" b="-115384"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3655399" y="2596938"/>
            <a:ext cx="3381160" cy="918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1"/>
              </a:lnSpc>
            </a:pPr>
            <a:r>
              <a:rPr lang="en-US" sz="2643" b="1" spc="-52">
                <a:solidFill>
                  <a:srgbClr val="16A2B4"/>
                </a:solidFill>
                <a:latin typeface="Inter Bold"/>
                <a:ea typeface="Inter Bold"/>
                <a:cs typeface="Inter Bold"/>
                <a:sym typeface="Inter Bold"/>
              </a:rPr>
              <a:t>Powerful features for dynamic networks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647172" y="3791333"/>
            <a:ext cx="4203899" cy="77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1" spc="-42">
                <a:solidFill>
                  <a:srgbClr val="25325B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visualization of satellite network and routing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650288" y="4860653"/>
            <a:ext cx="3892341" cy="77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1" spc="-42">
                <a:solidFill>
                  <a:srgbClr val="25325B"/>
                </a:solidFill>
                <a:latin typeface="Inter Medium"/>
                <a:ea typeface="Inter Medium"/>
                <a:cs typeface="Inter Medium"/>
                <a:sym typeface="Inter Medium"/>
              </a:rPr>
              <a:t>Adjustable number of satellites and ground stations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655507" y="5945033"/>
            <a:ext cx="3370436" cy="77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1" spc="-42">
                <a:solidFill>
                  <a:srgbClr val="25325B"/>
                </a:solidFill>
                <a:latin typeface="Inter Medium"/>
                <a:ea typeface="Inter Medium"/>
                <a:cs typeface="Inter Medium"/>
                <a:sym typeface="Inter Medium"/>
              </a:rPr>
              <a:t>Manual and random failure injection controls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651289" y="7029414"/>
            <a:ext cx="3792218" cy="77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1" spc="-42">
                <a:solidFill>
                  <a:srgbClr val="25325B"/>
                </a:solidFill>
                <a:latin typeface="Inter Medium"/>
                <a:ea typeface="Inter Medium"/>
                <a:cs typeface="Inter Medium"/>
                <a:sym typeface="Inter Medium"/>
              </a:rPr>
              <a:t>Algorithm switching capability (static vs adaptive)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666961" y="8113794"/>
            <a:ext cx="2224996" cy="77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1" spc="-42">
                <a:solidFill>
                  <a:srgbClr val="25325B"/>
                </a:solidFill>
                <a:latin typeface="Inter Medium"/>
                <a:ea typeface="Inter Medium"/>
                <a:cs typeface="Inter Medium"/>
                <a:sym typeface="Inter Medium"/>
              </a:rPr>
              <a:t>Live performance</a:t>
            </a:r>
          </a:p>
          <a:p>
            <a:pPr algn="l">
              <a:lnSpc>
                <a:spcPts val="3210"/>
              </a:lnSpc>
            </a:pPr>
            <a:r>
              <a:rPr lang="en-US" sz="2140" b="1" spc="-42">
                <a:solidFill>
                  <a:srgbClr val="25325B"/>
                </a:solidFill>
                <a:latin typeface="Inter Medium"/>
                <a:ea typeface="Inter Medium"/>
                <a:cs typeface="Inter Medium"/>
                <a:sym typeface="Inter Medium"/>
              </a:rPr>
              <a:t>metrics display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936144" y="6770622"/>
            <a:ext cx="898372" cy="32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82"/>
              </a:lnSpc>
            </a:pPr>
            <a:r>
              <a:rPr lang="en-US" sz="2151" b="1" spc="-43">
                <a:solidFill>
                  <a:srgbClr val="16A2B4"/>
                </a:solidFill>
                <a:latin typeface="Inter Bold"/>
                <a:ea typeface="Inter Bold"/>
                <a:cs typeface="Inter Bold"/>
                <a:sym typeface="Inter Bold"/>
              </a:rPr>
              <a:t>99.2%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707825" y="9046360"/>
            <a:ext cx="1660439" cy="23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388" b="1" spc="-2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All Systems Nominal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945477" y="4647043"/>
            <a:ext cx="888944" cy="32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82"/>
              </a:lnSpc>
            </a:pPr>
            <a:r>
              <a:rPr lang="en-US" sz="2151" b="1" spc="-43">
                <a:solidFill>
                  <a:srgbClr val="16A2B4"/>
                </a:solidFill>
                <a:latin typeface="Inter Bold"/>
                <a:ea typeface="Inter Bold"/>
                <a:cs typeface="Inter Bold"/>
                <a:sym typeface="Inter Bold"/>
              </a:rPr>
              <a:t>98.7%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928193" y="3550352"/>
            <a:ext cx="906402" cy="36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05"/>
              </a:lnSpc>
            </a:pPr>
            <a:r>
              <a:rPr lang="en-US" sz="2420" b="1" spc="-48">
                <a:solidFill>
                  <a:srgbClr val="16A2B4"/>
                </a:solidFill>
                <a:latin typeface="Inter Bold"/>
                <a:ea typeface="Inter Bold"/>
                <a:cs typeface="Inter Bold"/>
                <a:sym typeface="Inter Bold"/>
              </a:rPr>
              <a:t>28 ms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520370" y="3654271"/>
            <a:ext cx="1653642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End-to-end Latency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498718" y="3120326"/>
            <a:ext cx="1139939" cy="23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3"/>
              </a:lnSpc>
            </a:pPr>
            <a:r>
              <a:rPr lang="en-US" sz="1569" b="1" spc="-3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Live Metrics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094766" y="9046052"/>
            <a:ext cx="1276562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Alternate Route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738473" y="9046052"/>
            <a:ext cx="1237096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Ground Station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21810" y="9046052"/>
            <a:ext cx="1048736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Active Route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446693" y="5707440"/>
            <a:ext cx="382665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3"/>
              </a:lnSpc>
            </a:pPr>
            <a:r>
              <a:rPr lang="en-US" sz="2286" b="1" spc="-45">
                <a:solidFill>
                  <a:srgbClr val="16A2B4"/>
                </a:solidFill>
                <a:latin typeface="Inter Bold"/>
                <a:ea typeface="Inter Bold"/>
                <a:cs typeface="Inter Bold"/>
                <a:sym typeface="Inter Bold"/>
              </a:rPr>
              <a:t>1.2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270918" y="9046052"/>
            <a:ext cx="652721" cy="23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b="1" spc="-2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Satellite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0965" y="653135"/>
            <a:ext cx="13160498" cy="856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86"/>
              </a:lnSpc>
            </a:pPr>
            <a:r>
              <a:rPr lang="en-US" sz="5737" b="1" spc="-56">
                <a:solidFill>
                  <a:srgbClr val="192F4F"/>
                </a:solidFill>
                <a:latin typeface="Inter Bold"/>
                <a:ea typeface="Inter Bold"/>
                <a:cs typeface="Inter Bold"/>
                <a:sym typeface="Inter Bold"/>
              </a:rPr>
              <a:t>Results and Performance Comparison</a:t>
            </a:r>
          </a:p>
        </p:txBody>
      </p:sp>
      <p:sp>
        <p:nvSpPr>
          <p:cNvPr id="4" name="Freeform 4"/>
          <p:cNvSpPr/>
          <p:nvPr/>
        </p:nvSpPr>
        <p:spPr>
          <a:xfrm>
            <a:off x="568766" y="1945894"/>
            <a:ext cx="4145426" cy="4864734"/>
          </a:xfrm>
          <a:custGeom>
            <a:avLst/>
            <a:gdLst/>
            <a:ahLst/>
            <a:cxnLst/>
            <a:rect l="l" t="t" r="r" b="b"/>
            <a:pathLst>
              <a:path w="4145426" h="4864734">
                <a:moveTo>
                  <a:pt x="0" y="0"/>
                </a:moveTo>
                <a:lnTo>
                  <a:pt x="4145425" y="0"/>
                </a:lnTo>
                <a:lnTo>
                  <a:pt x="4145425" y="4864734"/>
                </a:lnTo>
                <a:lnTo>
                  <a:pt x="0" y="4864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30" t="-449" r="-1846" b="-112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12664" y="2191603"/>
            <a:ext cx="3241477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205" b="1" spc="-21">
                <a:solidFill>
                  <a:srgbClr val="192F4F"/>
                </a:solidFill>
                <a:latin typeface="Inter Bold"/>
                <a:ea typeface="Inter Bold"/>
                <a:cs typeface="Inter Bold"/>
                <a:sym typeface="Inter Bold"/>
              </a:rPr>
              <a:t>Average latency (ms)</a:t>
            </a:r>
          </a:p>
        </p:txBody>
      </p:sp>
      <p:sp>
        <p:nvSpPr>
          <p:cNvPr id="6" name="Freeform 6"/>
          <p:cNvSpPr/>
          <p:nvPr/>
        </p:nvSpPr>
        <p:spPr>
          <a:xfrm>
            <a:off x="1323474" y="3159344"/>
            <a:ext cx="76565" cy="3050024"/>
          </a:xfrm>
          <a:custGeom>
            <a:avLst/>
            <a:gdLst/>
            <a:ahLst/>
            <a:cxnLst/>
            <a:rect l="l" t="t" r="r" b="b"/>
            <a:pathLst>
              <a:path w="76565" h="3050024">
                <a:moveTo>
                  <a:pt x="0" y="0"/>
                </a:moveTo>
                <a:lnTo>
                  <a:pt x="76564" y="0"/>
                </a:lnTo>
                <a:lnTo>
                  <a:pt x="76564" y="3050025"/>
                </a:lnTo>
                <a:lnTo>
                  <a:pt x="0" y="305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571" t="-5376" r="-171428" b="-35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26790" y="3637931"/>
            <a:ext cx="367070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200</a:t>
            </a:r>
          </a:p>
        </p:txBody>
      </p:sp>
      <p:sp>
        <p:nvSpPr>
          <p:cNvPr id="8" name="Freeform 8"/>
          <p:cNvSpPr/>
          <p:nvPr/>
        </p:nvSpPr>
        <p:spPr>
          <a:xfrm>
            <a:off x="1793799" y="3629420"/>
            <a:ext cx="787522" cy="2590881"/>
          </a:xfrm>
          <a:custGeom>
            <a:avLst/>
            <a:gdLst/>
            <a:ahLst/>
            <a:cxnLst/>
            <a:rect l="l" t="t" r="r" b="b"/>
            <a:pathLst>
              <a:path w="787522" h="2590881">
                <a:moveTo>
                  <a:pt x="0" y="0"/>
                </a:moveTo>
                <a:lnTo>
                  <a:pt x="787522" y="0"/>
                </a:lnTo>
                <a:lnTo>
                  <a:pt x="787522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44" t="-8016" r="-416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325091" y="4875666"/>
            <a:ext cx="809397" cy="1344634"/>
          </a:xfrm>
          <a:custGeom>
            <a:avLst/>
            <a:gdLst/>
            <a:ahLst/>
            <a:cxnLst/>
            <a:rect l="l" t="t" r="r" b="b"/>
            <a:pathLst>
              <a:path w="809397" h="1344634">
                <a:moveTo>
                  <a:pt x="0" y="0"/>
                </a:moveTo>
                <a:lnTo>
                  <a:pt x="809397" y="0"/>
                </a:lnTo>
                <a:lnTo>
                  <a:pt x="809397" y="1344635"/>
                </a:lnTo>
                <a:lnTo>
                  <a:pt x="0" y="1344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108" t="-12195" r="-135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248204" y="3622871"/>
            <a:ext cx="245259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80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38180" y="2191603"/>
            <a:ext cx="3241477" cy="32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 b="1" spc="-21">
                <a:solidFill>
                  <a:srgbClr val="192F4F"/>
                </a:solidFill>
                <a:latin typeface="Inter Bold"/>
                <a:ea typeface="Inter Bold"/>
                <a:cs typeface="Inter Bold"/>
                <a:sym typeface="Inter Bold"/>
              </a:rPr>
              <a:t>Packet delivery ratio (%)</a:t>
            </a:r>
          </a:p>
        </p:txBody>
      </p:sp>
      <p:sp>
        <p:nvSpPr>
          <p:cNvPr id="12" name="Freeform 12"/>
          <p:cNvSpPr/>
          <p:nvPr/>
        </p:nvSpPr>
        <p:spPr>
          <a:xfrm>
            <a:off x="5632967" y="3181208"/>
            <a:ext cx="32813" cy="2896977"/>
          </a:xfrm>
          <a:custGeom>
            <a:avLst/>
            <a:gdLst/>
            <a:ahLst/>
            <a:cxnLst/>
            <a:rect l="l" t="t" r="r" b="b"/>
            <a:pathLst>
              <a:path w="32813" h="2896977">
                <a:moveTo>
                  <a:pt x="0" y="0"/>
                </a:moveTo>
                <a:lnTo>
                  <a:pt x="32813" y="0"/>
                </a:lnTo>
                <a:lnTo>
                  <a:pt x="32813" y="2896977"/>
                </a:lnTo>
                <a:lnTo>
                  <a:pt x="0" y="28969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9999" t="-6415" b="-490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589215" y="3126548"/>
            <a:ext cx="3248526" cy="54660"/>
          </a:xfrm>
          <a:custGeom>
            <a:avLst/>
            <a:gdLst/>
            <a:ahLst/>
            <a:cxnLst/>
            <a:rect l="l" t="t" r="r" b="b"/>
            <a:pathLst>
              <a:path w="3248526" h="54660">
                <a:moveTo>
                  <a:pt x="0" y="0"/>
                </a:moveTo>
                <a:lnTo>
                  <a:pt x="3248527" y="0"/>
                </a:lnTo>
                <a:lnTo>
                  <a:pt x="3248527" y="54660"/>
                </a:lnTo>
                <a:lnTo>
                  <a:pt x="0" y="546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713" t="-239999" r="-3030" b="-79999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081416" y="4055767"/>
            <a:ext cx="820335" cy="2164533"/>
          </a:xfrm>
          <a:custGeom>
            <a:avLst/>
            <a:gdLst/>
            <a:ahLst/>
            <a:cxnLst/>
            <a:rect l="l" t="t" r="r" b="b"/>
            <a:pathLst>
              <a:path w="820335" h="2164533">
                <a:moveTo>
                  <a:pt x="0" y="0"/>
                </a:moveTo>
                <a:lnTo>
                  <a:pt x="820335" y="0"/>
                </a:lnTo>
                <a:lnTo>
                  <a:pt x="820335" y="2164534"/>
                </a:lnTo>
                <a:lnTo>
                  <a:pt x="0" y="21645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333" t="-9595" r="-7999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634584" y="3399848"/>
            <a:ext cx="831273" cy="2820453"/>
          </a:xfrm>
          <a:custGeom>
            <a:avLst/>
            <a:gdLst/>
            <a:ahLst/>
            <a:cxnLst/>
            <a:rect l="l" t="t" r="r" b="b"/>
            <a:pathLst>
              <a:path w="831273" h="2820453">
                <a:moveTo>
                  <a:pt x="0" y="0"/>
                </a:moveTo>
                <a:lnTo>
                  <a:pt x="831272" y="0"/>
                </a:lnTo>
                <a:lnTo>
                  <a:pt x="831272" y="2820453"/>
                </a:lnTo>
                <a:lnTo>
                  <a:pt x="0" y="28204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631" t="-6589" r="-394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641610" y="3622871"/>
            <a:ext cx="245259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80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38742" y="2191603"/>
            <a:ext cx="3241477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205" b="1" spc="-21">
                <a:solidFill>
                  <a:srgbClr val="192F4F"/>
                </a:solidFill>
                <a:latin typeface="Inter Bold"/>
                <a:ea typeface="Inter Bold"/>
                <a:cs typeface="Inter Bold"/>
                <a:sym typeface="Inter Bold"/>
              </a:rPr>
              <a:t>Failure recovery time (s)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029962" y="3203072"/>
            <a:ext cx="54689" cy="3006296"/>
          </a:xfrm>
          <a:custGeom>
            <a:avLst/>
            <a:gdLst/>
            <a:ahLst/>
            <a:cxnLst/>
            <a:rect l="l" t="t" r="r" b="b"/>
            <a:pathLst>
              <a:path w="54689" h="3006296">
                <a:moveTo>
                  <a:pt x="0" y="0"/>
                </a:moveTo>
                <a:lnTo>
                  <a:pt x="54689" y="0"/>
                </a:lnTo>
                <a:lnTo>
                  <a:pt x="54689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0000" t="-6909" r="-280000" b="-363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073713" y="3148412"/>
            <a:ext cx="3193837" cy="32796"/>
          </a:xfrm>
          <a:custGeom>
            <a:avLst/>
            <a:gdLst/>
            <a:ahLst/>
            <a:cxnLst/>
            <a:rect l="l" t="t" r="r" b="b"/>
            <a:pathLst>
              <a:path w="3193837" h="32796">
                <a:moveTo>
                  <a:pt x="0" y="0"/>
                </a:moveTo>
                <a:lnTo>
                  <a:pt x="3193837" y="0"/>
                </a:lnTo>
                <a:lnTo>
                  <a:pt x="3193837" y="32796"/>
                </a:lnTo>
                <a:lnTo>
                  <a:pt x="0" y="32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054" t="-466666" r="-684" b="-133333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500287" y="3596624"/>
            <a:ext cx="820335" cy="2623677"/>
          </a:xfrm>
          <a:custGeom>
            <a:avLst/>
            <a:gdLst/>
            <a:ahLst/>
            <a:cxnLst/>
            <a:rect l="l" t="t" r="r" b="b"/>
            <a:pathLst>
              <a:path w="820335" h="2623677">
                <a:moveTo>
                  <a:pt x="0" y="0"/>
                </a:moveTo>
                <a:lnTo>
                  <a:pt x="820335" y="0"/>
                </a:lnTo>
                <a:lnTo>
                  <a:pt x="820335" y="2623677"/>
                </a:lnTo>
                <a:lnTo>
                  <a:pt x="0" y="262367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666" t="-6666" r="-1333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075330" y="5323878"/>
            <a:ext cx="831273" cy="896423"/>
          </a:xfrm>
          <a:custGeom>
            <a:avLst/>
            <a:gdLst/>
            <a:ahLst/>
            <a:cxnLst/>
            <a:rect l="l" t="t" r="r" b="b"/>
            <a:pathLst>
              <a:path w="831273" h="896423">
                <a:moveTo>
                  <a:pt x="0" y="0"/>
                </a:moveTo>
                <a:lnTo>
                  <a:pt x="831273" y="0"/>
                </a:lnTo>
                <a:lnTo>
                  <a:pt x="831273" y="896423"/>
                </a:lnTo>
                <a:lnTo>
                  <a:pt x="0" y="896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157" t="-20731" r="-19736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4173127" y="2415253"/>
            <a:ext cx="2507585" cy="39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641" b="1" spc="-25">
                <a:solidFill>
                  <a:srgbClr val="138EA8"/>
                </a:solidFill>
                <a:latin typeface="Inter Bold"/>
                <a:ea typeface="Inter Bold"/>
                <a:cs typeface="Inter Bold"/>
                <a:sym typeface="Inter Bold"/>
              </a:rPr>
              <a:t>Key takeaways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66102" y="3275562"/>
            <a:ext cx="3210094" cy="1259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2197" b="1" spc="-43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Adaptive routing enables faster recovery from</a:t>
            </a:r>
          </a:p>
          <a:p>
            <a:pPr algn="l">
              <a:lnSpc>
                <a:spcPts val="3514"/>
              </a:lnSpc>
            </a:pPr>
            <a:r>
              <a:rPr lang="en-US" sz="2197" b="1" spc="-43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link failures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197263" y="5061510"/>
            <a:ext cx="3259464" cy="43728"/>
          </a:xfrm>
          <a:custGeom>
            <a:avLst/>
            <a:gdLst/>
            <a:ahLst/>
            <a:cxnLst/>
            <a:rect l="l" t="t" r="r" b="b"/>
            <a:pathLst>
              <a:path w="3259464" h="43728">
                <a:moveTo>
                  <a:pt x="0" y="0"/>
                </a:moveTo>
                <a:lnTo>
                  <a:pt x="3259464" y="0"/>
                </a:lnTo>
                <a:lnTo>
                  <a:pt x="3259464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677" t="-324999" r="-5704" b="-99999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165259" y="5544405"/>
            <a:ext cx="3294406" cy="125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179" b="1" spc="-43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Significantly higher</a:t>
            </a:r>
          </a:p>
          <a:p>
            <a:pPr algn="l">
              <a:lnSpc>
                <a:spcPts val="3486"/>
              </a:lnSpc>
            </a:pPr>
            <a:r>
              <a:rPr lang="en-US" sz="2179" b="1" spc="-43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packet delivery success</a:t>
            </a:r>
          </a:p>
          <a:p>
            <a:pPr algn="l">
              <a:lnSpc>
                <a:spcPts val="3486"/>
              </a:lnSpc>
            </a:pPr>
            <a:r>
              <a:rPr lang="en-US" sz="2179" b="1" spc="-43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under dynamic conditions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4197263" y="7368159"/>
            <a:ext cx="3259464" cy="32796"/>
          </a:xfrm>
          <a:custGeom>
            <a:avLst/>
            <a:gdLst/>
            <a:ahLst/>
            <a:cxnLst/>
            <a:rect l="l" t="t" r="r" b="b"/>
            <a:pathLst>
              <a:path w="3259464" h="32796">
                <a:moveTo>
                  <a:pt x="0" y="0"/>
                </a:moveTo>
                <a:lnTo>
                  <a:pt x="3259464" y="0"/>
                </a:lnTo>
                <a:lnTo>
                  <a:pt x="3259464" y="32796"/>
                </a:lnTo>
                <a:lnTo>
                  <a:pt x="0" y="3279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677" t="-266666" r="-5704" b="-333333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171032" y="7854058"/>
            <a:ext cx="2717097" cy="1259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2197" b="1" spc="-43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Better load balancing</a:t>
            </a:r>
          </a:p>
          <a:p>
            <a:pPr algn="l">
              <a:lnSpc>
                <a:spcPts val="3514"/>
              </a:lnSpc>
            </a:pPr>
            <a:r>
              <a:rPr lang="en-US" sz="2197" b="1" spc="-43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reduces congestion</a:t>
            </a:r>
          </a:p>
          <a:p>
            <a:pPr algn="l">
              <a:lnSpc>
                <a:spcPts val="3514"/>
              </a:lnSpc>
            </a:pPr>
            <a:r>
              <a:rPr lang="en-US" sz="2197" b="1" spc="-43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and latency spikes</a:t>
            </a:r>
          </a:p>
        </p:txBody>
      </p:sp>
      <p:sp>
        <p:nvSpPr>
          <p:cNvPr id="28" name="Freeform 28"/>
          <p:cNvSpPr/>
          <p:nvPr/>
        </p:nvSpPr>
        <p:spPr>
          <a:xfrm>
            <a:off x="590641" y="7116724"/>
            <a:ext cx="12917541" cy="601259"/>
          </a:xfrm>
          <a:custGeom>
            <a:avLst/>
            <a:gdLst/>
            <a:ahLst/>
            <a:cxnLst/>
            <a:rect l="l" t="t" r="r" b="b"/>
            <a:pathLst>
              <a:path w="12917541" h="601259">
                <a:moveTo>
                  <a:pt x="0" y="0"/>
                </a:moveTo>
                <a:lnTo>
                  <a:pt x="12917541" y="0"/>
                </a:lnTo>
                <a:lnTo>
                  <a:pt x="12917541" y="601259"/>
                </a:lnTo>
                <a:lnTo>
                  <a:pt x="0" y="6012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270" t="-9090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68766" y="7717983"/>
            <a:ext cx="43751" cy="1934962"/>
          </a:xfrm>
          <a:custGeom>
            <a:avLst/>
            <a:gdLst/>
            <a:ahLst/>
            <a:cxnLst/>
            <a:rect l="l" t="t" r="r" b="b"/>
            <a:pathLst>
              <a:path w="43751" h="1934962">
                <a:moveTo>
                  <a:pt x="0" y="0"/>
                </a:moveTo>
                <a:lnTo>
                  <a:pt x="43751" y="0"/>
                </a:lnTo>
                <a:lnTo>
                  <a:pt x="43751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324999" t="-564" r="-99999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871981" y="7816371"/>
            <a:ext cx="43751" cy="1814710"/>
          </a:xfrm>
          <a:custGeom>
            <a:avLst/>
            <a:gdLst/>
            <a:ahLst/>
            <a:cxnLst/>
            <a:rect l="l" t="t" r="r" b="b"/>
            <a:pathLst>
              <a:path w="43751" h="1814710">
                <a:moveTo>
                  <a:pt x="0" y="0"/>
                </a:moveTo>
                <a:lnTo>
                  <a:pt x="43751" y="0"/>
                </a:lnTo>
                <a:lnTo>
                  <a:pt x="43751" y="1814710"/>
                </a:lnTo>
                <a:lnTo>
                  <a:pt x="0" y="181471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400000" t="-6024" r="-25000" b="-1204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7065818" y="7717983"/>
            <a:ext cx="43751" cy="1924030"/>
          </a:xfrm>
          <a:custGeom>
            <a:avLst/>
            <a:gdLst/>
            <a:ahLst/>
            <a:cxnLst/>
            <a:rect l="l" t="t" r="r" b="b"/>
            <a:pathLst>
              <a:path w="43751" h="1924030">
                <a:moveTo>
                  <a:pt x="0" y="0"/>
                </a:moveTo>
                <a:lnTo>
                  <a:pt x="43751" y="0"/>
                </a:lnTo>
                <a:lnTo>
                  <a:pt x="43751" y="1924030"/>
                </a:lnTo>
                <a:lnTo>
                  <a:pt x="0" y="192403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250000" t="-568" r="-175000" b="-568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270593" y="7772643"/>
            <a:ext cx="32813" cy="1847506"/>
          </a:xfrm>
          <a:custGeom>
            <a:avLst/>
            <a:gdLst/>
            <a:ahLst/>
            <a:cxnLst/>
            <a:rect l="l" t="t" r="r" b="b"/>
            <a:pathLst>
              <a:path w="32813" h="1847506">
                <a:moveTo>
                  <a:pt x="0" y="0"/>
                </a:moveTo>
                <a:lnTo>
                  <a:pt x="32814" y="0"/>
                </a:lnTo>
                <a:lnTo>
                  <a:pt x="32814" y="1847506"/>
                </a:lnTo>
                <a:lnTo>
                  <a:pt x="0" y="18475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33333" t="-3550" r="-466666" b="-1775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6453301" y="8253650"/>
            <a:ext cx="7043943" cy="109320"/>
          </a:xfrm>
          <a:custGeom>
            <a:avLst/>
            <a:gdLst/>
            <a:ahLst/>
            <a:cxnLst/>
            <a:rect l="l" t="t" r="r" b="b"/>
            <a:pathLst>
              <a:path w="7043943" h="109320">
                <a:moveTo>
                  <a:pt x="0" y="0"/>
                </a:moveTo>
                <a:lnTo>
                  <a:pt x="7043943" y="0"/>
                </a:lnTo>
                <a:lnTo>
                  <a:pt x="7043943" y="109320"/>
                </a:lnTo>
                <a:lnTo>
                  <a:pt x="0" y="10932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85559" t="-109999" r="-155"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623455" y="8975162"/>
            <a:ext cx="12862852" cy="32796"/>
          </a:xfrm>
          <a:custGeom>
            <a:avLst/>
            <a:gdLst/>
            <a:ahLst/>
            <a:cxnLst/>
            <a:rect l="l" t="t" r="r" b="b"/>
            <a:pathLst>
              <a:path w="12862852" h="32796">
                <a:moveTo>
                  <a:pt x="0" y="0"/>
                </a:moveTo>
                <a:lnTo>
                  <a:pt x="12862851" y="0"/>
                </a:lnTo>
                <a:lnTo>
                  <a:pt x="12862851" y="32795"/>
                </a:lnTo>
                <a:lnTo>
                  <a:pt x="0" y="3279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1530" t="-599999" r="-170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129950" y="7873110"/>
            <a:ext cx="2197985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1757" b="1" spc="-35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Average latency (ms)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277645" y="7873110"/>
            <a:ext cx="362939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1"/>
              </a:lnSpc>
            </a:pPr>
            <a:r>
              <a:rPr lang="en-US" sz="1757" b="1" spc="-35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210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21789" y="7873110"/>
            <a:ext cx="1148324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757" b="1" spc="-35">
                <a:solidFill>
                  <a:srgbClr val="F08A31"/>
                </a:solidFill>
                <a:latin typeface="Inter Bold"/>
                <a:ea typeface="Inter Bold"/>
                <a:cs typeface="Inter Bold"/>
                <a:sym typeface="Inter Bold"/>
              </a:rPr>
              <a:t>54% lower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82476" y="8475544"/>
            <a:ext cx="257049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1"/>
              </a:lnSpc>
            </a:pPr>
            <a:r>
              <a:rPr lang="en-US" sz="1757" b="1" spc="-35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72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20130" y="8475544"/>
            <a:ext cx="280741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1"/>
              </a:lnSpc>
            </a:pPr>
            <a:r>
              <a:rPr lang="en-US" sz="1757" b="1" spc="-35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94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9496" y="9108099"/>
            <a:ext cx="2491070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1757" b="1" spc="-35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Failure recovery time (s)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70913" y="9108099"/>
            <a:ext cx="268728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1"/>
              </a:lnSpc>
            </a:pPr>
            <a:r>
              <a:rPr lang="en-US" sz="1757" b="1" spc="-35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85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35216" y="9108099"/>
            <a:ext cx="265503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1"/>
              </a:lnSpc>
            </a:pPr>
            <a:r>
              <a:rPr lang="en-US" sz="1757" b="1" spc="-35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25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38085" y="9108099"/>
            <a:ext cx="1115733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757" b="1" spc="-35">
                <a:solidFill>
                  <a:srgbClr val="F08A31"/>
                </a:solidFill>
                <a:latin typeface="Inter Bold"/>
                <a:ea typeface="Inter Bold"/>
                <a:cs typeface="Inter Bold"/>
                <a:sym typeface="Inter Bold"/>
              </a:rPr>
              <a:t>71% faster</a:t>
            </a:r>
          </a:p>
        </p:txBody>
      </p:sp>
      <p:sp>
        <p:nvSpPr>
          <p:cNvPr id="44" name="Freeform 44"/>
          <p:cNvSpPr/>
          <p:nvPr/>
        </p:nvSpPr>
        <p:spPr>
          <a:xfrm>
            <a:off x="590641" y="9609217"/>
            <a:ext cx="12906603" cy="32796"/>
          </a:xfrm>
          <a:custGeom>
            <a:avLst/>
            <a:gdLst/>
            <a:ahLst/>
            <a:cxnLst/>
            <a:rect l="l" t="t" r="r" b="b"/>
            <a:pathLst>
              <a:path w="12906603" h="32796">
                <a:moveTo>
                  <a:pt x="0" y="0"/>
                </a:moveTo>
                <a:lnTo>
                  <a:pt x="12906603" y="0"/>
                </a:lnTo>
                <a:lnTo>
                  <a:pt x="12906603" y="32796"/>
                </a:lnTo>
                <a:lnTo>
                  <a:pt x="0" y="3279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1271" t="-566666" r="-84" b="-33333"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3803502" y="1967758"/>
            <a:ext cx="4025110" cy="7663323"/>
          </a:xfrm>
          <a:custGeom>
            <a:avLst/>
            <a:gdLst/>
            <a:ahLst/>
            <a:cxnLst/>
            <a:rect l="l" t="t" r="r" b="b"/>
            <a:pathLst>
              <a:path w="4025110" h="7663323">
                <a:moveTo>
                  <a:pt x="0" y="0"/>
                </a:moveTo>
                <a:lnTo>
                  <a:pt x="4025110" y="0"/>
                </a:lnTo>
                <a:lnTo>
                  <a:pt x="4025110" y="7663323"/>
                </a:lnTo>
                <a:lnTo>
                  <a:pt x="0" y="766332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2173" t="-570" r="-815" b="-285"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7527727" y="3019949"/>
            <a:ext cx="669727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6"/>
              </a:lnSpc>
            </a:pPr>
            <a:r>
              <a:rPr lang="en-US" sz="2205" b="1" spc="-21">
                <a:solidFill>
                  <a:srgbClr val="192F4F"/>
                </a:solidFill>
                <a:latin typeface="Inter Bold"/>
                <a:ea typeface="Inter Bold"/>
                <a:cs typeface="Inter Bold"/>
                <a:sym typeface="Inter Bold"/>
              </a:rPr>
              <a:t>94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6874" y="3035498"/>
            <a:ext cx="358686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250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67016" y="3035498"/>
            <a:ext cx="327269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100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560423" y="3035498"/>
            <a:ext cx="327269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100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367367" y="3215740"/>
            <a:ext cx="669727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6"/>
              </a:lnSpc>
            </a:pPr>
            <a:r>
              <a:rPr lang="en-US" sz="2205" b="1" spc="-21">
                <a:solidFill>
                  <a:srgbClr val="192F4F"/>
                </a:solidFill>
                <a:latin typeface="Inter Bold"/>
                <a:ea typeface="Inter Bold"/>
                <a:cs typeface="Inter Bold"/>
                <a:sym typeface="Inter Bold"/>
              </a:rPr>
              <a:t>85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687711" y="3275984"/>
            <a:ext cx="750094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6"/>
              </a:lnSpc>
            </a:pPr>
            <a:r>
              <a:rPr lang="en-US" sz="2205" b="1" spc="-21">
                <a:solidFill>
                  <a:srgbClr val="192F4F"/>
                </a:solidFill>
                <a:latin typeface="Inter Bold"/>
                <a:ea typeface="Inter Bold"/>
                <a:cs typeface="Inter Bold"/>
                <a:sym typeface="Inter Bold"/>
              </a:rPr>
              <a:t>210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947172" y="3667566"/>
            <a:ext cx="669727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6"/>
              </a:lnSpc>
            </a:pPr>
            <a:r>
              <a:rPr lang="en-US" sz="2205" b="1" spc="-21">
                <a:solidFill>
                  <a:srgbClr val="192F4F"/>
                </a:solidFill>
                <a:latin typeface="Inter Bold"/>
                <a:ea typeface="Inter Bold"/>
                <a:cs typeface="Inter Bold"/>
                <a:sym typeface="Inter Bold"/>
              </a:rPr>
              <a:t>72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7272" y="4255426"/>
            <a:ext cx="318885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150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248202" y="4255426"/>
            <a:ext cx="245452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60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41608" y="4255426"/>
            <a:ext cx="245452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60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187898" y="4495912"/>
            <a:ext cx="669727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6"/>
              </a:lnSpc>
            </a:pPr>
            <a:r>
              <a:rPr lang="en-US" sz="2205" b="1" spc="-21">
                <a:solidFill>
                  <a:srgbClr val="192F4F"/>
                </a:solidFill>
                <a:latin typeface="Inter Bold"/>
                <a:ea typeface="Inter Bold"/>
                <a:cs typeface="Inter Bold"/>
                <a:sym typeface="Inter Bold"/>
              </a:rPr>
              <a:t>95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27188" y="4857859"/>
            <a:ext cx="327269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100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248146" y="4857859"/>
            <a:ext cx="251041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40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641552" y="4857859"/>
            <a:ext cx="251041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40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001500" y="4947737"/>
            <a:ext cx="669727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6"/>
              </a:lnSpc>
            </a:pPr>
            <a:r>
              <a:rPr lang="en-US" sz="2205" b="1" spc="-21">
                <a:solidFill>
                  <a:srgbClr val="192F4F"/>
                </a:solidFill>
                <a:latin typeface="Inter Bold"/>
                <a:ea typeface="Inter Bold"/>
                <a:cs typeface="Inter Bold"/>
                <a:sym typeface="Inter Bold"/>
              </a:rPr>
              <a:t>25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5209" y="5460293"/>
            <a:ext cx="240826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50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248232" y="5460293"/>
            <a:ext cx="242465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20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641638" y="5460293"/>
            <a:ext cx="242465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20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14081" y="6005567"/>
            <a:ext cx="127335" cy="28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30"/>
              </a:lnSpc>
            </a:pPr>
            <a:r>
              <a:rPr lang="en-US" sz="1582" b="1" spc="-31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327120" y="6005567"/>
            <a:ext cx="127335" cy="28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30"/>
              </a:lnSpc>
            </a:pPr>
            <a:r>
              <a:rPr lang="en-US" sz="1582" b="1" spc="-31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745708" y="6005567"/>
            <a:ext cx="127335" cy="28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30"/>
              </a:lnSpc>
            </a:pPr>
            <a:r>
              <a:rPr lang="en-US" sz="1582" b="1" spc="-31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594405" y="6286188"/>
            <a:ext cx="1117800" cy="2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06" b="1" spc="-28">
                <a:solidFill>
                  <a:srgbClr val="192F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Static routing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023323" y="6286188"/>
            <a:ext cx="1390534" cy="2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06" b="1" spc="-28">
                <a:solidFill>
                  <a:srgbClr val="192F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Adaptive routing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920570" y="6286188"/>
            <a:ext cx="1117800" cy="2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06" b="1" spc="-28">
                <a:solidFill>
                  <a:srgbClr val="192F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Static routing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336362" y="6286188"/>
            <a:ext cx="1390534" cy="2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06" b="1" spc="-28">
                <a:solidFill>
                  <a:srgbClr val="192F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Adaptive routing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354964" y="6286188"/>
            <a:ext cx="1117800" cy="2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06" b="1" spc="-28">
                <a:solidFill>
                  <a:srgbClr val="192F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Static routing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810136" y="6286188"/>
            <a:ext cx="1390534" cy="2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06" b="1" spc="-28">
                <a:solidFill>
                  <a:srgbClr val="192F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Adaptive routing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879723" y="7225494"/>
            <a:ext cx="670930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757" b="1" spc="-3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Metric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767951" y="7225494"/>
            <a:ext cx="1397250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757" b="1" spc="-3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Static routing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810573" y="7225494"/>
            <a:ext cx="1738167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757" b="1" spc="-3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Adaptive routing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196824" y="7225494"/>
            <a:ext cx="1398255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757" b="1" spc="-3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Improvement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531803" y="7873110"/>
            <a:ext cx="268951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1"/>
              </a:lnSpc>
            </a:pPr>
            <a:r>
              <a:rPr lang="en-US" sz="1757" b="1" spc="-35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95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39216" y="8475544"/>
            <a:ext cx="2518988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1757" b="1" spc="-35">
                <a:solidFill>
                  <a:srgbClr val="192F4F"/>
                </a:solidFill>
                <a:latin typeface="Inter Medium"/>
                <a:ea typeface="Inter Medium"/>
                <a:cs typeface="Inter Medium"/>
                <a:sym typeface="Inter Medium"/>
              </a:rPr>
              <a:t>Packet delivery ratio (%)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283082" y="8475544"/>
            <a:ext cx="1225739" cy="31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757" b="1" spc="-35">
                <a:solidFill>
                  <a:srgbClr val="F08A31"/>
                </a:solidFill>
                <a:latin typeface="Inter Bold"/>
                <a:ea typeface="Inter Bold"/>
                <a:cs typeface="Inter Bold"/>
                <a:sym typeface="Inter Bold"/>
              </a:rPr>
              <a:t>22% higher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9554" y="406620"/>
            <a:ext cx="9017291" cy="1623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0"/>
              </a:lnSpc>
            </a:pPr>
            <a:r>
              <a:rPr lang="en-US" sz="5829" b="1">
                <a:solidFill>
                  <a:srgbClr val="122C57"/>
                </a:solidFill>
                <a:latin typeface="Inter Bold"/>
                <a:ea typeface="Inter Bold"/>
                <a:cs typeface="Inter Bold"/>
                <a:sym typeface="Inter Bold"/>
              </a:rPr>
              <a:t>Applications, Tech Stack and Future Scope</a:t>
            </a:r>
          </a:p>
        </p:txBody>
      </p:sp>
      <p:sp>
        <p:nvSpPr>
          <p:cNvPr id="4" name="Freeform 4"/>
          <p:cNvSpPr/>
          <p:nvPr/>
        </p:nvSpPr>
        <p:spPr>
          <a:xfrm>
            <a:off x="601579" y="2284785"/>
            <a:ext cx="5436086" cy="4471183"/>
          </a:xfrm>
          <a:custGeom>
            <a:avLst/>
            <a:gdLst/>
            <a:ahLst/>
            <a:cxnLst/>
            <a:rect l="l" t="t" r="r" b="b"/>
            <a:pathLst>
              <a:path w="5436086" h="4471183">
                <a:moveTo>
                  <a:pt x="0" y="0"/>
                </a:moveTo>
                <a:lnTo>
                  <a:pt x="5436086" y="0"/>
                </a:lnTo>
                <a:lnTo>
                  <a:pt x="5436086" y="4471183"/>
                </a:lnTo>
                <a:lnTo>
                  <a:pt x="0" y="44711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19" t="-3178" r="-1207" b="-244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01579" y="2317581"/>
            <a:ext cx="5447024" cy="590327"/>
          </a:xfrm>
          <a:custGeom>
            <a:avLst/>
            <a:gdLst/>
            <a:ahLst/>
            <a:cxnLst/>
            <a:rect l="l" t="t" r="r" b="b"/>
            <a:pathLst>
              <a:path w="5447024" h="590327">
                <a:moveTo>
                  <a:pt x="0" y="0"/>
                </a:moveTo>
                <a:lnTo>
                  <a:pt x="5447024" y="0"/>
                </a:lnTo>
                <a:lnTo>
                  <a:pt x="5447024" y="590328"/>
                </a:lnTo>
                <a:lnTo>
                  <a:pt x="0" y="590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12" t="-29629" r="-1004" b="-1666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64867" y="2441151"/>
            <a:ext cx="2003429" cy="3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Applications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0334" y="3131323"/>
            <a:ext cx="4407250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Disaster-area communication networks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1587" y="3839182"/>
            <a:ext cx="4281877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Remote and rural internet connectivity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9505" y="4547042"/>
            <a:ext cx="4490174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Maritime and aviation network coverage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631" y="5285023"/>
            <a:ext cx="2277535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Global IoT data relay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4123" y="5962761"/>
            <a:ext cx="4028340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Defense and secure communication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67359" y="2295717"/>
            <a:ext cx="5457962" cy="4460251"/>
          </a:xfrm>
          <a:custGeom>
            <a:avLst/>
            <a:gdLst/>
            <a:ahLst/>
            <a:cxnLst/>
            <a:rect l="l" t="t" r="r" b="b"/>
            <a:pathLst>
              <a:path w="5457962" h="4460251">
                <a:moveTo>
                  <a:pt x="0" y="0"/>
                </a:moveTo>
                <a:lnTo>
                  <a:pt x="5457962" y="0"/>
                </a:lnTo>
                <a:lnTo>
                  <a:pt x="5457962" y="4460251"/>
                </a:lnTo>
                <a:lnTo>
                  <a:pt x="0" y="4460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206" t="-3431" r="-601" b="-245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267359" y="2317581"/>
            <a:ext cx="5457962" cy="590327"/>
          </a:xfrm>
          <a:custGeom>
            <a:avLst/>
            <a:gdLst/>
            <a:ahLst/>
            <a:cxnLst/>
            <a:rect l="l" t="t" r="r" b="b"/>
            <a:pathLst>
              <a:path w="5457962" h="590327">
                <a:moveTo>
                  <a:pt x="0" y="0"/>
                </a:moveTo>
                <a:lnTo>
                  <a:pt x="5457962" y="0"/>
                </a:lnTo>
                <a:lnTo>
                  <a:pt x="5457962" y="590328"/>
                </a:lnTo>
                <a:lnTo>
                  <a:pt x="0" y="590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206" t="-29629" r="-601" b="-1666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082026" y="2441151"/>
            <a:ext cx="1754616" cy="3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Tech Stack</a:t>
            </a:r>
          </a:p>
        </p:txBody>
      </p:sp>
      <p:sp>
        <p:nvSpPr>
          <p:cNvPr id="15" name="Freeform 15"/>
          <p:cNvSpPr/>
          <p:nvPr/>
        </p:nvSpPr>
        <p:spPr>
          <a:xfrm>
            <a:off x="6617368" y="3039092"/>
            <a:ext cx="535952" cy="535667"/>
          </a:xfrm>
          <a:custGeom>
            <a:avLst/>
            <a:gdLst/>
            <a:ahLst/>
            <a:cxnLst/>
            <a:rect l="l" t="t" r="r" b="b"/>
            <a:pathLst>
              <a:path w="535952" h="535667">
                <a:moveTo>
                  <a:pt x="0" y="0"/>
                </a:moveTo>
                <a:lnTo>
                  <a:pt x="535953" y="0"/>
                </a:lnTo>
                <a:lnTo>
                  <a:pt x="535953" y="535668"/>
                </a:lnTo>
                <a:lnTo>
                  <a:pt x="0" y="5356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326" t="-8163" r="-6122" b="-14285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504138" y="3131323"/>
            <a:ext cx="2358829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Python programming</a:t>
            </a:r>
          </a:p>
        </p:txBody>
      </p:sp>
      <p:sp>
        <p:nvSpPr>
          <p:cNvPr id="17" name="Freeform 17"/>
          <p:cNvSpPr/>
          <p:nvPr/>
        </p:nvSpPr>
        <p:spPr>
          <a:xfrm>
            <a:off x="7853340" y="3607556"/>
            <a:ext cx="3521971" cy="21864"/>
          </a:xfrm>
          <a:custGeom>
            <a:avLst/>
            <a:gdLst/>
            <a:ahLst/>
            <a:cxnLst/>
            <a:rect l="l" t="t" r="r" b="b"/>
            <a:pathLst>
              <a:path w="3521971" h="21864">
                <a:moveTo>
                  <a:pt x="0" y="0"/>
                </a:moveTo>
                <a:lnTo>
                  <a:pt x="3521971" y="0"/>
                </a:lnTo>
                <a:lnTo>
                  <a:pt x="3521971" y="21864"/>
                </a:lnTo>
                <a:lnTo>
                  <a:pt x="0" y="218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043" t="-850000" r="-4658" b="-100000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617368" y="3749672"/>
            <a:ext cx="546890" cy="546599"/>
          </a:xfrm>
          <a:custGeom>
            <a:avLst/>
            <a:gdLst/>
            <a:ahLst/>
            <a:cxnLst/>
            <a:rect l="l" t="t" r="r" b="b"/>
            <a:pathLst>
              <a:path w="546890" h="546599">
                <a:moveTo>
                  <a:pt x="0" y="0"/>
                </a:moveTo>
                <a:lnTo>
                  <a:pt x="546890" y="0"/>
                </a:lnTo>
                <a:lnTo>
                  <a:pt x="546890" y="546599"/>
                </a:lnTo>
                <a:lnTo>
                  <a:pt x="0" y="5465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5999" t="-20000" r="-3999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492592" y="3839182"/>
            <a:ext cx="3513472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NetworkX for graph processing</a:t>
            </a:r>
          </a:p>
        </p:txBody>
      </p:sp>
      <p:sp>
        <p:nvSpPr>
          <p:cNvPr id="20" name="Freeform 20"/>
          <p:cNvSpPr/>
          <p:nvPr/>
        </p:nvSpPr>
        <p:spPr>
          <a:xfrm>
            <a:off x="7514268" y="4350931"/>
            <a:ext cx="3839167" cy="43728"/>
          </a:xfrm>
          <a:custGeom>
            <a:avLst/>
            <a:gdLst/>
            <a:ahLst/>
            <a:cxnLst/>
            <a:rect l="l" t="t" r="r" b="b"/>
            <a:pathLst>
              <a:path w="3839167" h="43728">
                <a:moveTo>
                  <a:pt x="0" y="0"/>
                </a:moveTo>
                <a:lnTo>
                  <a:pt x="3839167" y="0"/>
                </a:lnTo>
                <a:lnTo>
                  <a:pt x="3839167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133" t="-150000" r="-4843" b="-250000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628306" y="4482115"/>
            <a:ext cx="525014" cy="546599"/>
          </a:xfrm>
          <a:custGeom>
            <a:avLst/>
            <a:gdLst/>
            <a:ahLst/>
            <a:cxnLst/>
            <a:rect l="l" t="t" r="r" b="b"/>
            <a:pathLst>
              <a:path w="525014" h="546599">
                <a:moveTo>
                  <a:pt x="0" y="0"/>
                </a:moveTo>
                <a:lnTo>
                  <a:pt x="525015" y="0"/>
                </a:lnTo>
                <a:lnTo>
                  <a:pt x="525015" y="546599"/>
                </a:lnTo>
                <a:lnTo>
                  <a:pt x="0" y="5465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8750" t="-36000" r="-6249" b="-2199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489978" y="4556661"/>
            <a:ext cx="3774838" cy="27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75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NumPy for numerical computations</a:t>
            </a:r>
          </a:p>
        </p:txBody>
      </p:sp>
      <p:sp>
        <p:nvSpPr>
          <p:cNvPr id="23" name="Freeform 23"/>
          <p:cNvSpPr/>
          <p:nvPr/>
        </p:nvSpPr>
        <p:spPr>
          <a:xfrm>
            <a:off x="7525206" y="5072442"/>
            <a:ext cx="3839167" cy="32796"/>
          </a:xfrm>
          <a:custGeom>
            <a:avLst/>
            <a:gdLst/>
            <a:ahLst/>
            <a:cxnLst/>
            <a:rect l="l" t="t" r="r" b="b"/>
            <a:pathLst>
              <a:path w="3839167" h="32796">
                <a:moveTo>
                  <a:pt x="0" y="0"/>
                </a:moveTo>
                <a:lnTo>
                  <a:pt x="3839167" y="0"/>
                </a:lnTo>
                <a:lnTo>
                  <a:pt x="3839167" y="32796"/>
                </a:lnTo>
                <a:lnTo>
                  <a:pt x="0" y="32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418" t="-466666" r="-4558" b="-133333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617368" y="5236422"/>
            <a:ext cx="535952" cy="481007"/>
          </a:xfrm>
          <a:custGeom>
            <a:avLst/>
            <a:gdLst/>
            <a:ahLst/>
            <a:cxnLst/>
            <a:rect l="l" t="t" r="r" b="b"/>
            <a:pathLst>
              <a:path w="535952" h="481007">
                <a:moveTo>
                  <a:pt x="0" y="0"/>
                </a:moveTo>
                <a:lnTo>
                  <a:pt x="535953" y="0"/>
                </a:lnTo>
                <a:lnTo>
                  <a:pt x="535953" y="481007"/>
                </a:lnTo>
                <a:lnTo>
                  <a:pt x="0" y="4810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326" t="-20454" r="-6122" b="-15909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7491136" y="5285023"/>
            <a:ext cx="3659082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Matplotlib/Plotly for visualization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7503330" y="5772089"/>
            <a:ext cx="3861043" cy="54660"/>
          </a:xfrm>
          <a:custGeom>
            <a:avLst/>
            <a:gdLst/>
            <a:ahLst/>
            <a:cxnLst/>
            <a:rect l="l" t="t" r="r" b="b"/>
            <a:pathLst>
              <a:path w="3861043" h="54660">
                <a:moveTo>
                  <a:pt x="0" y="0"/>
                </a:moveTo>
                <a:lnTo>
                  <a:pt x="3861043" y="0"/>
                </a:lnTo>
                <a:lnTo>
                  <a:pt x="3861043" y="54660"/>
                </a:lnTo>
                <a:lnTo>
                  <a:pt x="0" y="546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832" t="-379999" r="-4532" b="-31999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617368" y="6001661"/>
            <a:ext cx="546890" cy="524735"/>
          </a:xfrm>
          <a:custGeom>
            <a:avLst/>
            <a:gdLst/>
            <a:ahLst/>
            <a:cxnLst/>
            <a:rect l="l" t="t" r="r" b="b"/>
            <a:pathLst>
              <a:path w="546890" h="524735">
                <a:moveTo>
                  <a:pt x="0" y="0"/>
                </a:moveTo>
                <a:lnTo>
                  <a:pt x="546890" y="0"/>
                </a:lnTo>
                <a:lnTo>
                  <a:pt x="546890" y="524735"/>
                </a:lnTo>
                <a:lnTo>
                  <a:pt x="0" y="52473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5999" t="-2083" r="-3999" b="-22916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7501798" y="5962761"/>
            <a:ext cx="2592829" cy="56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Optionally web-based</a:t>
            </a:r>
          </a:p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dashboard frameworks</a:t>
            </a:r>
          </a:p>
        </p:txBody>
      </p:sp>
      <p:sp>
        <p:nvSpPr>
          <p:cNvPr id="29" name="Freeform 29"/>
          <p:cNvSpPr/>
          <p:nvPr/>
        </p:nvSpPr>
        <p:spPr>
          <a:xfrm>
            <a:off x="11955014" y="2273853"/>
            <a:ext cx="5589215" cy="4482115"/>
          </a:xfrm>
          <a:custGeom>
            <a:avLst/>
            <a:gdLst/>
            <a:ahLst/>
            <a:cxnLst/>
            <a:rect l="l" t="t" r="r" b="b"/>
            <a:pathLst>
              <a:path w="5589215" h="4482115">
                <a:moveTo>
                  <a:pt x="0" y="0"/>
                </a:moveTo>
                <a:lnTo>
                  <a:pt x="5589216" y="0"/>
                </a:lnTo>
                <a:lnTo>
                  <a:pt x="5589216" y="4482115"/>
                </a:lnTo>
                <a:lnTo>
                  <a:pt x="0" y="448211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718" t="-2926" r="-1761" b="-2439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1955014" y="2317581"/>
            <a:ext cx="5589215" cy="590327"/>
          </a:xfrm>
          <a:custGeom>
            <a:avLst/>
            <a:gdLst/>
            <a:ahLst/>
            <a:cxnLst/>
            <a:rect l="l" t="t" r="r" b="b"/>
            <a:pathLst>
              <a:path w="5589215" h="590327">
                <a:moveTo>
                  <a:pt x="0" y="0"/>
                </a:moveTo>
                <a:lnTo>
                  <a:pt x="5589216" y="0"/>
                </a:lnTo>
                <a:lnTo>
                  <a:pt x="5589216" y="590328"/>
                </a:lnTo>
                <a:lnTo>
                  <a:pt x="0" y="59032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718" t="-29629" r="-1761" b="-16666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3621599" y="2441151"/>
            <a:ext cx="2153512" cy="3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54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Future Scope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54744" y="3131323"/>
            <a:ext cx="4143594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Machine learning for route prediction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247540" y="3839182"/>
            <a:ext cx="4863967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Reinforcement learning for adaptive routing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250673" y="4547042"/>
            <a:ext cx="4550650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Integration with real orbit data (TLE files)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56803" y="5285023"/>
            <a:ext cx="3937624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Laser inter-satellite links simulation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263983" y="5962761"/>
            <a:ext cx="3219694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Multi-priority traffic handling</a:t>
            </a:r>
          </a:p>
        </p:txBody>
      </p:sp>
      <p:sp>
        <p:nvSpPr>
          <p:cNvPr id="37" name="Freeform 37"/>
          <p:cNvSpPr/>
          <p:nvPr/>
        </p:nvSpPr>
        <p:spPr>
          <a:xfrm>
            <a:off x="590641" y="6985540"/>
            <a:ext cx="16964526" cy="3006296"/>
          </a:xfrm>
          <a:custGeom>
            <a:avLst/>
            <a:gdLst/>
            <a:ahLst/>
            <a:cxnLst/>
            <a:rect l="l" t="t" r="r" b="b"/>
            <a:pathLst>
              <a:path w="16964526" h="3006296">
                <a:moveTo>
                  <a:pt x="0" y="0"/>
                </a:moveTo>
                <a:lnTo>
                  <a:pt x="16964526" y="0"/>
                </a:lnTo>
                <a:lnTo>
                  <a:pt x="16964526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967" t="-4363" r="-515" b="-2909"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52959" y="7319938"/>
            <a:ext cx="4833137" cy="780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1"/>
              </a:lnSpc>
            </a:pPr>
            <a:r>
              <a:rPr lang="en-US" sz="551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Thank You!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91195" y="8301157"/>
            <a:ext cx="4286250" cy="107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appreciate your time and look forward to building the future together.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708003" y="3899426"/>
            <a:ext cx="342857" cy="28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27" b="1">
                <a:solidFill>
                  <a:srgbClr val="122C57"/>
                </a:solidFill>
                <a:latin typeface="Inter Medium"/>
                <a:ea typeface="Inter Medium"/>
                <a:cs typeface="Inter Medium"/>
                <a:sym typeface="Inter Medium"/>
              </a:rPr>
              <a:t>NX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728</Words>
  <Application>Microsoft Office PowerPoint</Application>
  <PresentationFormat>Custom</PresentationFormat>
  <Paragraphs>212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Calibri</vt:lpstr>
      <vt:lpstr>TT Commons Pro Bold</vt:lpstr>
      <vt:lpstr>Inter Semi-Bold</vt:lpstr>
      <vt:lpstr>Inter Medium</vt:lpstr>
      <vt:lpstr>Inter Bold</vt:lpstr>
      <vt:lpstr>Arial</vt:lpstr>
      <vt:lpstr>Inter</vt:lpstr>
      <vt:lpstr>TT Hoves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Satellite Routing</dc:title>
  <dc:creator>hp</dc:creator>
  <cp:lastModifiedBy>Aayush Choubey</cp:lastModifiedBy>
  <cp:revision>2</cp:revision>
  <dcterms:created xsi:type="dcterms:W3CDTF">2006-08-16T00:00:00Z</dcterms:created>
  <dcterms:modified xsi:type="dcterms:W3CDTF">2026-10-26T16:40:47Z</dcterms:modified>
  <dc:identifier>DAHZGz-ZHLM</dc:identifier>
</cp:coreProperties>
</file>